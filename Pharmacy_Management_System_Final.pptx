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75" r:id="rId5"/>
    <p:sldId id="276" r:id="rId6"/>
    <p:sldId id="260" r:id="rId7"/>
    <p:sldId id="262" r:id="rId8"/>
    <p:sldId id="261" r:id="rId9"/>
    <p:sldId id="263" r:id="rId10"/>
    <p:sldId id="264" r:id="rId11"/>
    <p:sldId id="265" r:id="rId12"/>
    <p:sldId id="266" r:id="rId13"/>
    <p:sldId id="267" r:id="rId14"/>
    <p:sldId id="268" r:id="rId15"/>
    <p:sldId id="269" r:id="rId16"/>
    <p:sldId id="282" r:id="rId17"/>
    <p:sldId id="271" r:id="rId18"/>
    <p:sldId id="272" r:id="rId19"/>
    <p:sldId id="277" r:id="rId20"/>
    <p:sldId id="278" r:id="rId21"/>
    <p:sldId id="270" r:id="rId22"/>
    <p:sldId id="273" r:id="rId23"/>
    <p:sldId id="279" r:id="rId24"/>
    <p:sldId id="280" r:id="rId25"/>
    <p:sldId id="281" r:id="rId26"/>
    <p:sldId id="274" r:id="rId27"/>
  </p:sldIdLst>
  <p:sldSz cx="14401800" cy="7772400"/>
  <p:notesSz cx="6858000" cy="9144000"/>
  <p:defaultTextStyle>
    <a:defPPr>
      <a:defRPr lang="en-US"/>
    </a:defPPr>
    <a:lvl1pPr marL="0" algn="l" defTabSz="530661" rtl="0" eaLnBrk="1" latinLnBrk="0" hangingPunct="1">
      <a:defRPr sz="2100" kern="1200">
        <a:solidFill>
          <a:schemeClr val="tx1"/>
        </a:solidFill>
        <a:latin typeface="+mn-lt"/>
        <a:ea typeface="+mn-ea"/>
        <a:cs typeface="+mn-cs"/>
      </a:defRPr>
    </a:lvl1pPr>
    <a:lvl2pPr marL="530661" algn="l" defTabSz="530661" rtl="0" eaLnBrk="1" latinLnBrk="0" hangingPunct="1">
      <a:defRPr sz="2100" kern="1200">
        <a:solidFill>
          <a:schemeClr val="tx1"/>
        </a:solidFill>
        <a:latin typeface="+mn-lt"/>
        <a:ea typeface="+mn-ea"/>
        <a:cs typeface="+mn-cs"/>
      </a:defRPr>
    </a:lvl2pPr>
    <a:lvl3pPr marL="1061322" algn="l" defTabSz="530661" rtl="0" eaLnBrk="1" latinLnBrk="0" hangingPunct="1">
      <a:defRPr sz="2100" kern="1200">
        <a:solidFill>
          <a:schemeClr val="tx1"/>
        </a:solidFill>
        <a:latin typeface="+mn-lt"/>
        <a:ea typeface="+mn-ea"/>
        <a:cs typeface="+mn-cs"/>
      </a:defRPr>
    </a:lvl3pPr>
    <a:lvl4pPr marL="1591982" algn="l" defTabSz="530661" rtl="0" eaLnBrk="1" latinLnBrk="0" hangingPunct="1">
      <a:defRPr sz="2100" kern="1200">
        <a:solidFill>
          <a:schemeClr val="tx1"/>
        </a:solidFill>
        <a:latin typeface="+mn-lt"/>
        <a:ea typeface="+mn-ea"/>
        <a:cs typeface="+mn-cs"/>
      </a:defRPr>
    </a:lvl4pPr>
    <a:lvl5pPr marL="2122643" algn="l" defTabSz="530661" rtl="0" eaLnBrk="1" latinLnBrk="0" hangingPunct="1">
      <a:defRPr sz="2100" kern="1200">
        <a:solidFill>
          <a:schemeClr val="tx1"/>
        </a:solidFill>
        <a:latin typeface="+mn-lt"/>
        <a:ea typeface="+mn-ea"/>
        <a:cs typeface="+mn-cs"/>
      </a:defRPr>
    </a:lvl5pPr>
    <a:lvl6pPr marL="2653304" algn="l" defTabSz="530661" rtl="0" eaLnBrk="1" latinLnBrk="0" hangingPunct="1">
      <a:defRPr sz="2100" kern="1200">
        <a:solidFill>
          <a:schemeClr val="tx1"/>
        </a:solidFill>
        <a:latin typeface="+mn-lt"/>
        <a:ea typeface="+mn-ea"/>
        <a:cs typeface="+mn-cs"/>
      </a:defRPr>
    </a:lvl6pPr>
    <a:lvl7pPr marL="3183964" algn="l" defTabSz="530661" rtl="0" eaLnBrk="1" latinLnBrk="0" hangingPunct="1">
      <a:defRPr sz="2100" kern="1200">
        <a:solidFill>
          <a:schemeClr val="tx1"/>
        </a:solidFill>
        <a:latin typeface="+mn-lt"/>
        <a:ea typeface="+mn-ea"/>
        <a:cs typeface="+mn-cs"/>
      </a:defRPr>
    </a:lvl7pPr>
    <a:lvl8pPr marL="3714625" algn="l" defTabSz="530661" rtl="0" eaLnBrk="1" latinLnBrk="0" hangingPunct="1">
      <a:defRPr sz="2100" kern="1200">
        <a:solidFill>
          <a:schemeClr val="tx1"/>
        </a:solidFill>
        <a:latin typeface="+mn-lt"/>
        <a:ea typeface="+mn-ea"/>
        <a:cs typeface="+mn-cs"/>
      </a:defRPr>
    </a:lvl8pPr>
    <a:lvl9pPr marL="4245285" algn="l" defTabSz="530661" rtl="0" eaLnBrk="1" latinLnBrk="0" hangingPunct="1">
      <a:defRPr sz="21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snapToObjects="1">
      <p:cViewPr varScale="1">
        <p:scale>
          <a:sx n="72" d="100"/>
          <a:sy n="72" d="100"/>
        </p:scale>
        <p:origin x="-576" y="-101"/>
      </p:cViewPr>
      <p:guideLst>
        <p:guide orient="horz" pos="2448"/>
        <p:guide pos="4536"/>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840108" y="1554480"/>
            <a:ext cx="12366345" cy="2072640"/>
          </a:xfrm>
          <a:ln>
            <a:noFill/>
          </a:ln>
        </p:spPr>
        <p:txBody>
          <a:bodyPr vert="horz" tIns="0" rIns="21226"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65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840108" y="3659008"/>
            <a:ext cx="12371145" cy="1986280"/>
          </a:xfrm>
        </p:spPr>
        <p:txBody>
          <a:bodyPr lIns="0" rIns="21226"/>
          <a:lstStyle>
            <a:lvl1pPr marL="0" marR="53066" indent="0" algn="r">
              <a:buNone/>
              <a:defRPr>
                <a:solidFill>
                  <a:schemeClr val="tx1"/>
                </a:solidFill>
              </a:defRPr>
            </a:lvl1pPr>
            <a:lvl2pPr marL="530661" indent="0" algn="ctr">
              <a:buNone/>
            </a:lvl2pPr>
            <a:lvl3pPr marL="1061322" indent="0" algn="ctr">
              <a:buNone/>
            </a:lvl3pPr>
            <a:lvl4pPr marL="1591982" indent="0" algn="ctr">
              <a:buNone/>
            </a:lvl4pPr>
            <a:lvl5pPr marL="2122643" indent="0" algn="ctr">
              <a:buNone/>
            </a:lvl5pPr>
            <a:lvl6pPr marL="2653304" indent="0" algn="ctr">
              <a:buNone/>
            </a:lvl6pPr>
            <a:lvl7pPr marL="3183964" indent="0" algn="ctr">
              <a:buNone/>
            </a:lvl7pPr>
            <a:lvl8pPr marL="3714625" indent="0" algn="ctr">
              <a:buNone/>
            </a:lvl8pPr>
            <a:lvl9pPr marL="4245285"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5BCAD085-E8A6-8845-BD4E-CB4CCA059FC4}" type="datetimeFigureOut">
              <a:rPr lang="en-US" smtClean="0"/>
              <a:pPr/>
              <a:t>4/21/2026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C1FF6DA9-008F-8B48-92A6-B652298478B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835304" y="1492302"/>
            <a:ext cx="12241531" cy="1544117"/>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65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835304" y="3065289"/>
            <a:ext cx="12241531" cy="1711007"/>
          </a:xfrm>
        </p:spPr>
        <p:txBody>
          <a:bodyPr lIns="53066" rIns="53066" anchor="t"/>
          <a:lstStyle>
            <a:lvl1pPr marL="0" indent="0">
              <a:buNone/>
              <a:defRPr sz="2500">
                <a:solidFill>
                  <a:schemeClr val="tx1"/>
                </a:solidFill>
              </a:defRPr>
            </a:lvl1pPr>
            <a:lvl2pPr>
              <a:buNone/>
              <a:defRPr sz="2100">
                <a:solidFill>
                  <a:schemeClr val="tx1">
                    <a:tint val="75000"/>
                  </a:schemeClr>
                </a:solidFill>
              </a:defRPr>
            </a:lvl2pPr>
            <a:lvl3pPr>
              <a:buNone/>
              <a:defRPr sz="1900">
                <a:solidFill>
                  <a:schemeClr val="tx1">
                    <a:tint val="75000"/>
                  </a:schemeClr>
                </a:solidFill>
              </a:defRPr>
            </a:lvl3pPr>
            <a:lvl4pPr>
              <a:buNone/>
              <a:defRPr sz="1700">
                <a:solidFill>
                  <a:schemeClr val="tx1">
                    <a:tint val="75000"/>
                  </a:schemeClr>
                </a:solidFill>
              </a:defRPr>
            </a:lvl4pPr>
            <a:lvl5pPr>
              <a:buNone/>
              <a:defRPr sz="17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20091" y="797967"/>
            <a:ext cx="12961620" cy="12954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720090" y="2176096"/>
            <a:ext cx="6360796" cy="5026152"/>
          </a:xfrm>
        </p:spPr>
        <p:txBody>
          <a:bodyPr/>
          <a:lstStyle>
            <a:lvl1pPr>
              <a:defRPr sz="3000"/>
            </a:lvl1pPr>
            <a:lvl2pPr>
              <a:defRPr sz="2700"/>
            </a:lvl2pPr>
            <a:lvl3pPr>
              <a:defRPr sz="2400"/>
            </a:lvl3pPr>
            <a:lvl4pPr>
              <a:defRPr sz="2100"/>
            </a:lvl4pPr>
            <a:lvl5pPr>
              <a:defRPr sz="21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7320917" y="2176096"/>
            <a:ext cx="6360796" cy="5026152"/>
          </a:xfrm>
        </p:spPr>
        <p:txBody>
          <a:bodyPr/>
          <a:lstStyle>
            <a:lvl1pPr>
              <a:defRPr sz="3000"/>
            </a:lvl1pPr>
            <a:lvl2pPr>
              <a:defRPr sz="2700"/>
            </a:lvl2pPr>
            <a:lvl3pPr>
              <a:defRPr sz="2400"/>
            </a:lvl3pPr>
            <a:lvl4pPr>
              <a:defRPr sz="2100"/>
            </a:lvl4pPr>
            <a:lvl5pPr>
              <a:defRPr sz="21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20091" y="797967"/>
            <a:ext cx="12961620" cy="1295400"/>
          </a:xfrm>
        </p:spPr>
        <p:txBody>
          <a:bodyPr tIns="53066"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0093" y="2102616"/>
            <a:ext cx="6363296" cy="747265"/>
          </a:xfrm>
        </p:spPr>
        <p:txBody>
          <a:bodyPr lIns="53066" tIns="0" rIns="53066" bIns="0" anchor="ctr">
            <a:noAutofit/>
          </a:bodyPr>
          <a:lstStyle>
            <a:lvl1pPr marL="0" indent="0">
              <a:buNone/>
              <a:defRPr sz="2700" b="1" cap="none" baseline="0">
                <a:solidFill>
                  <a:schemeClr val="tx2"/>
                </a:solidFill>
                <a:effectLst/>
              </a:defRPr>
            </a:lvl1pPr>
            <a:lvl2pPr>
              <a:buNone/>
              <a:defRPr sz="2400" b="1"/>
            </a:lvl2pPr>
            <a:lvl3pPr>
              <a:buNone/>
              <a:defRPr sz="2100" b="1"/>
            </a:lvl3pPr>
            <a:lvl4pPr>
              <a:buNone/>
              <a:defRPr sz="1900" b="1"/>
            </a:lvl4pPr>
            <a:lvl5pPr>
              <a:buNone/>
              <a:defRPr sz="19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7315917" y="2107727"/>
            <a:ext cx="6365796" cy="742155"/>
          </a:xfrm>
        </p:spPr>
        <p:txBody>
          <a:bodyPr lIns="53066" tIns="0" rIns="53066" bIns="0" anchor="ctr"/>
          <a:lstStyle>
            <a:lvl1pPr marL="0" indent="0">
              <a:buNone/>
              <a:defRPr sz="2700" b="1" cap="none" baseline="0">
                <a:solidFill>
                  <a:schemeClr val="tx2"/>
                </a:solidFill>
                <a:effectLst/>
              </a:defRPr>
            </a:lvl1pPr>
            <a:lvl2pPr>
              <a:buNone/>
              <a:defRPr sz="2400" b="1"/>
            </a:lvl2pPr>
            <a:lvl3pPr>
              <a:buNone/>
              <a:defRPr sz="2100" b="1"/>
            </a:lvl3pPr>
            <a:lvl4pPr>
              <a:buNone/>
              <a:defRPr sz="1900" b="1"/>
            </a:lvl4pPr>
            <a:lvl5pPr>
              <a:buNone/>
              <a:defRPr sz="19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720093" y="2849882"/>
            <a:ext cx="6363296" cy="4358483"/>
          </a:xfrm>
        </p:spPr>
        <p:txBody>
          <a:bodyPr tIns="0"/>
          <a:lstStyle>
            <a:lvl1pPr>
              <a:defRPr sz="2500"/>
            </a:lvl1pPr>
            <a:lvl2pPr>
              <a:defRPr sz="2400"/>
            </a:lvl2pPr>
            <a:lvl3pPr>
              <a:defRPr sz="2100"/>
            </a:lvl3pPr>
            <a:lvl4pPr>
              <a:defRPr sz="1900"/>
            </a:lvl4pPr>
            <a:lvl5pPr>
              <a:defRPr sz="19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7315917" y="2849882"/>
            <a:ext cx="6365796" cy="4358483"/>
          </a:xfrm>
        </p:spPr>
        <p:txBody>
          <a:bodyPr tIns="0"/>
          <a:lstStyle>
            <a:lvl1pPr>
              <a:defRPr sz="2500"/>
            </a:lvl1pPr>
            <a:lvl2pPr>
              <a:defRPr sz="2400"/>
            </a:lvl2pPr>
            <a:lvl3pPr>
              <a:defRPr sz="2100"/>
            </a:lvl3pPr>
            <a:lvl4pPr>
              <a:defRPr sz="1900"/>
            </a:lvl4pPr>
            <a:lvl5pPr>
              <a:defRPr sz="19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BCAD085-E8A6-8845-BD4E-CB4CCA059FC4}" type="datetimeFigureOut">
              <a:rPr lang="en-US" smtClean="0"/>
              <a:pPr/>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20089" y="797967"/>
            <a:ext cx="13081635" cy="1295400"/>
          </a:xfrm>
        </p:spPr>
        <p:txBody>
          <a:bodyPr vert="horz" tIns="53066"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8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BCAD085-E8A6-8845-BD4E-CB4CCA059FC4}" type="datetimeFigureOut">
              <a:rPr lang="en-US" smtClean="0"/>
              <a:pPr/>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0135" y="582932"/>
            <a:ext cx="4320540" cy="1316990"/>
          </a:xfrm>
        </p:spPr>
        <p:txBody>
          <a:bodyPr lIns="0" anchor="b">
            <a:noAutofit/>
          </a:bodyPr>
          <a:lstStyle>
            <a:lvl1pPr algn="l" rtl="0">
              <a:spcBef>
                <a:spcPct val="0"/>
              </a:spcBef>
              <a:buNone/>
              <a:defRPr sz="3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1080135" y="1899920"/>
            <a:ext cx="4320540" cy="5181600"/>
          </a:xfrm>
        </p:spPr>
        <p:txBody>
          <a:bodyPr lIns="21226" rIns="21226"/>
          <a:lstStyle>
            <a:lvl1pPr marL="0" indent="0" algn="l">
              <a:buNone/>
              <a:defRPr sz="1700"/>
            </a:lvl1pPr>
            <a:lvl2pPr indent="0" algn="l">
              <a:buNone/>
              <a:defRPr sz="1400"/>
            </a:lvl2pPr>
            <a:lvl3pPr indent="0" algn="l">
              <a:buNone/>
              <a:defRPr sz="1200"/>
            </a:lvl3pPr>
            <a:lvl4pPr indent="0" algn="l">
              <a:buNone/>
              <a:defRPr sz="1100"/>
            </a:lvl4pPr>
            <a:lvl5pPr indent="0" algn="l">
              <a:buNone/>
              <a:defRPr sz="11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5630705" y="1899920"/>
            <a:ext cx="8051008" cy="5181600"/>
          </a:xfrm>
        </p:spPr>
        <p:txBody>
          <a:bodyPr tIns="0"/>
          <a:lstStyle>
            <a:lvl1pPr>
              <a:defRPr sz="3200"/>
            </a:lvl1pPr>
            <a:lvl2pPr>
              <a:defRPr sz="3000"/>
            </a:lvl2pPr>
            <a:lvl3pPr>
              <a:defRPr sz="2700"/>
            </a:lvl3pPr>
            <a:lvl4pPr>
              <a:defRPr sz="2400"/>
            </a:lvl4pPr>
            <a:lvl5pPr>
              <a:defRPr sz="21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986063" y="1255821"/>
            <a:ext cx="8281035" cy="466344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lIns="106132" tIns="53066" rIns="106132" bIns="53066" rtlCol="0" anchor="ctr"/>
          <a:lstStyle/>
          <a:p>
            <a:pPr algn="ctr" eaLnBrk="1" latinLnBrk="0" hangingPunct="1"/>
            <a:endParaRPr kumimoji="0" lang="en-US"/>
          </a:p>
        </p:txBody>
      </p:sp>
      <p:sp>
        <p:nvSpPr>
          <p:cNvPr id="12" name="Right Triangle 11"/>
          <p:cNvSpPr/>
          <p:nvPr/>
        </p:nvSpPr>
        <p:spPr>
          <a:xfrm rot="420000" flipV="1">
            <a:off x="12606514" y="6074406"/>
            <a:ext cx="244831" cy="1761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lIns="106132" tIns="53066" rIns="106132" bIns="53066" rtlCol="0" anchor="ctr"/>
          <a:lstStyle/>
          <a:p>
            <a:pPr algn="ctr" eaLnBrk="1" latinLnBrk="0" hangingPunct="1"/>
            <a:endParaRPr kumimoji="0" lang="en-US"/>
          </a:p>
        </p:txBody>
      </p:sp>
      <p:sp>
        <p:nvSpPr>
          <p:cNvPr id="2" name="Title 1"/>
          <p:cNvSpPr>
            <a:spLocks noGrp="1"/>
          </p:cNvSpPr>
          <p:nvPr>
            <p:ph type="title"/>
          </p:nvPr>
        </p:nvSpPr>
        <p:spPr>
          <a:xfrm>
            <a:off x="960121" y="1333932"/>
            <a:ext cx="3485236" cy="1793637"/>
          </a:xfrm>
        </p:spPr>
        <p:txBody>
          <a:bodyPr vert="horz" lIns="53066" tIns="53066" rIns="53066" bIns="53066" anchor="b"/>
          <a:lstStyle>
            <a:lvl1pPr algn="l">
              <a:buNone/>
              <a:defRPr sz="24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60121" y="3205956"/>
            <a:ext cx="3480436" cy="2469896"/>
          </a:xfrm>
        </p:spPr>
        <p:txBody>
          <a:bodyPr lIns="74292" rIns="53066" bIns="53066" anchor="t"/>
          <a:lstStyle>
            <a:lvl1pPr marL="0" indent="0" algn="l">
              <a:spcBef>
                <a:spcPts val="290"/>
              </a:spcBef>
              <a:buFontTx/>
              <a:buNone/>
              <a:defRPr sz="1500"/>
            </a:lvl1pPr>
            <a:lvl2pPr>
              <a:defRPr sz="1400"/>
            </a:lvl2pPr>
            <a:lvl3pPr>
              <a:defRPr sz="1200"/>
            </a:lvl3pPr>
            <a:lvl4pPr>
              <a:defRPr sz="1100"/>
            </a:lvl4pPr>
            <a:lvl5pPr>
              <a:defRPr sz="11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2721591" y="7203865"/>
            <a:ext cx="960120" cy="413808"/>
          </a:xfrm>
        </p:spPr>
        <p:txBody>
          <a:bodyPr/>
          <a:lstStyle/>
          <a:p>
            <a:fld id="{C1FF6DA9-008F-8B48-92A6-B652298478BF}" type="slidenum">
              <a:rPr lang="en-US" smtClean="0"/>
              <a:pPr/>
              <a:t>‹#›</a:t>
            </a:fld>
            <a:endParaRPr lang="en-US"/>
          </a:p>
        </p:txBody>
      </p:sp>
      <p:sp>
        <p:nvSpPr>
          <p:cNvPr id="3" name="Picture Placeholder 2"/>
          <p:cNvSpPr>
            <a:spLocks noGrp="1"/>
          </p:cNvSpPr>
          <p:nvPr>
            <p:ph type="pic" idx="1"/>
          </p:nvPr>
        </p:nvSpPr>
        <p:spPr>
          <a:xfrm rot="420000">
            <a:off x="5490126" y="1359453"/>
            <a:ext cx="7272909" cy="4456176"/>
          </a:xfrm>
          <a:prstGeom prst="rect">
            <a:avLst/>
          </a:prstGeom>
          <a:solidFill>
            <a:schemeClr val="bg2"/>
          </a:solidFill>
          <a:ln w="3000" cap="rnd">
            <a:solidFill>
              <a:srgbClr val="C0C0C0"/>
            </a:solidFill>
            <a:round/>
          </a:ln>
          <a:effectLst/>
        </p:spPr>
        <p:txBody>
          <a:bodyPr/>
          <a:lstStyle>
            <a:lvl1pPr marL="0" indent="0">
              <a:buNone/>
              <a:defRPr sz="3700"/>
            </a:lvl1pPr>
          </a:lstStyle>
          <a:p>
            <a:r>
              <a:rPr kumimoji="0" lang="en-US" smtClean="0"/>
              <a:t>Click icon to add picture</a:t>
            </a:r>
            <a:endParaRPr kumimoji="0" lang="en-US" dirty="0"/>
          </a:p>
        </p:txBody>
      </p:sp>
      <p:sp>
        <p:nvSpPr>
          <p:cNvPr id="10" name="Freeform 9"/>
          <p:cNvSpPr>
            <a:spLocks/>
          </p:cNvSpPr>
          <p:nvPr/>
        </p:nvSpPr>
        <p:spPr bwMode="auto">
          <a:xfrm flipV="1">
            <a:off x="-15003" y="6592148"/>
            <a:ext cx="14431805" cy="1180254"/>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106132" tIns="53066" rIns="106132" bIns="53066" anchor="t" compatLnSpc="1"/>
          <a:lstStyle/>
          <a:p>
            <a:pPr marL="0" algn="l" rtl="0" eaLnBrk="1" latinLnBrk="0" hangingPunct="1"/>
            <a:endParaRPr kumimoji="0" lang="en-US" dirty="0">
              <a:solidFill>
                <a:schemeClr val="tx1"/>
              </a:solidFill>
              <a:latin typeface="+mn-lt"/>
              <a:ea typeface="+mn-ea"/>
              <a:cs typeface="+mn-cs"/>
            </a:endParaRPr>
          </a:p>
        </p:txBody>
      </p:sp>
      <p:sp>
        <p:nvSpPr>
          <p:cNvPr id="11" name="Freeform 10"/>
          <p:cNvSpPr>
            <a:spLocks/>
          </p:cNvSpPr>
          <p:nvPr/>
        </p:nvSpPr>
        <p:spPr bwMode="auto">
          <a:xfrm flipV="1">
            <a:off x="6900865" y="7049138"/>
            <a:ext cx="7500937" cy="72326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106132" tIns="53066" rIns="106132" bIns="53066" anchor="t" compatLnSpc="1"/>
          <a:lstStyle/>
          <a:p>
            <a:pPr marL="0" algn="l" rtl="0" eaLnBrk="1" latinLnBrk="0" hangingPunct="1"/>
            <a:endParaRPr kumimoji="0" lang="en-US" dirty="0">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41306" y="1036323"/>
            <a:ext cx="3240405" cy="590666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720091" y="1036323"/>
            <a:ext cx="9481184" cy="590666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5003" y="-8096"/>
            <a:ext cx="14431805" cy="1180254"/>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106132" tIns="53066" rIns="106132" bIns="53066"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6900865" y="-8095"/>
            <a:ext cx="7500937" cy="72326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106132" tIns="53066" rIns="106132" bIns="53066" anchor="t" compatLnSpc="1"/>
          <a:lstStyle/>
          <a:p>
            <a:pPr marL="0" algn="l" rtl="0" eaLnBrk="1" latinLnBrk="0" hangingPunct="1"/>
            <a:endParaRPr kumimoji="0" lang="en-US" dirty="0">
              <a:solidFill>
                <a:schemeClr val="tx1"/>
              </a:solidFill>
              <a:latin typeface="+mn-lt"/>
              <a:ea typeface="+mn-ea"/>
              <a:cs typeface="+mn-cs"/>
            </a:endParaRPr>
          </a:p>
        </p:txBody>
      </p:sp>
      <p:sp>
        <p:nvSpPr>
          <p:cNvPr id="9" name="Title Placeholder 8"/>
          <p:cNvSpPr>
            <a:spLocks noGrp="1"/>
          </p:cNvSpPr>
          <p:nvPr>
            <p:ph type="title"/>
          </p:nvPr>
        </p:nvSpPr>
        <p:spPr>
          <a:xfrm>
            <a:off x="720091" y="797967"/>
            <a:ext cx="12961620" cy="1295400"/>
          </a:xfrm>
          <a:prstGeom prst="rect">
            <a:avLst/>
          </a:prstGeom>
        </p:spPr>
        <p:txBody>
          <a:bodyPr vert="horz" lIns="0" tIns="53066"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720091" y="2193544"/>
            <a:ext cx="12961620" cy="4974336"/>
          </a:xfrm>
          <a:prstGeom prst="rect">
            <a:avLst/>
          </a:prstGeom>
        </p:spPr>
        <p:txBody>
          <a:bodyPr vert="horz" lIns="106132" tIns="53066" rIns="106132" bIns="53066">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720090" y="7203865"/>
            <a:ext cx="3360420" cy="413808"/>
          </a:xfrm>
          <a:prstGeom prst="rect">
            <a:avLst/>
          </a:prstGeom>
        </p:spPr>
        <p:txBody>
          <a:bodyPr vert="horz" lIns="0" tIns="0" rIns="0" bIns="0" anchor="b"/>
          <a:lstStyle>
            <a:lvl1pPr algn="l" eaLnBrk="1" latinLnBrk="0" hangingPunct="1">
              <a:defRPr kumimoji="0" sz="1400">
                <a:solidFill>
                  <a:schemeClr val="tx2">
                    <a:shade val="90000"/>
                  </a:schemeClr>
                </a:solidFill>
              </a:defRPr>
            </a:lvl1pPr>
          </a:lstStyle>
          <a:p>
            <a:fld id="{5BCAD085-E8A6-8845-BD4E-CB4CCA059FC4}" type="datetimeFigureOut">
              <a:rPr lang="en-US" smtClean="0"/>
              <a:pPr/>
              <a:t>4/21/2026</a:t>
            </a:fld>
            <a:endParaRPr lang="en-US"/>
          </a:p>
        </p:txBody>
      </p:sp>
      <p:sp>
        <p:nvSpPr>
          <p:cNvPr id="22" name="Footer Placeholder 21"/>
          <p:cNvSpPr>
            <a:spLocks noGrp="1"/>
          </p:cNvSpPr>
          <p:nvPr>
            <p:ph type="ftr" sz="quarter" idx="3"/>
          </p:nvPr>
        </p:nvSpPr>
        <p:spPr>
          <a:xfrm>
            <a:off x="4200526" y="7203865"/>
            <a:ext cx="5280660" cy="413808"/>
          </a:xfrm>
          <a:prstGeom prst="rect">
            <a:avLst/>
          </a:prstGeom>
        </p:spPr>
        <p:txBody>
          <a:bodyPr vert="horz" lIns="0" tIns="0" rIns="0" bIns="0" anchor="b"/>
          <a:lstStyle>
            <a:lvl1pPr algn="l" eaLnBrk="1" latinLnBrk="0" hangingPunct="1">
              <a:defRPr kumimoji="0" sz="14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12481560" y="7203865"/>
            <a:ext cx="1200149" cy="413808"/>
          </a:xfrm>
          <a:prstGeom prst="rect">
            <a:avLst/>
          </a:prstGeom>
        </p:spPr>
        <p:txBody>
          <a:bodyPr vert="horz" lIns="0" tIns="0" rIns="0" bIns="0" anchor="b"/>
          <a:lstStyle>
            <a:lvl1pPr algn="r" eaLnBrk="1" latinLnBrk="0" hangingPunct="1">
              <a:defRPr kumimoji="0" sz="1400">
                <a:solidFill>
                  <a:schemeClr val="tx2">
                    <a:shade val="90000"/>
                  </a:schemeClr>
                </a:solidFill>
              </a:defRPr>
            </a:lvl1pPr>
          </a:lstStyle>
          <a:p>
            <a:fld id="{C1FF6DA9-008F-8B48-92A6-B652298478BF}" type="slidenum">
              <a:rPr lang="en-US" smtClean="0"/>
              <a:pPr/>
              <a:t>‹#›</a:t>
            </a:fld>
            <a:endParaRPr lang="en-US"/>
          </a:p>
        </p:txBody>
      </p:sp>
      <p:grpSp>
        <p:nvGrpSpPr>
          <p:cNvPr id="2" name="Group 1"/>
          <p:cNvGrpSpPr/>
          <p:nvPr/>
        </p:nvGrpSpPr>
        <p:grpSpPr>
          <a:xfrm>
            <a:off x="-29952" y="229397"/>
            <a:ext cx="14459363" cy="735787"/>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800" b="0" kern="1200">
          <a:ln>
            <a:noFill/>
          </a:ln>
          <a:solidFill>
            <a:schemeClr val="tx2"/>
          </a:solidFill>
          <a:effectLst/>
          <a:latin typeface="+mj-lt"/>
          <a:ea typeface="+mj-ea"/>
          <a:cs typeface="+mj-cs"/>
        </a:defRPr>
      </a:lvl1pPr>
    </p:titleStyle>
    <p:bodyStyle>
      <a:lvl1pPr marL="318397" indent="-318397" algn="l" rtl="0" eaLnBrk="1" latinLnBrk="0" hangingPunct="1">
        <a:spcBef>
          <a:spcPct val="20000"/>
        </a:spcBef>
        <a:buClr>
          <a:schemeClr val="accent3"/>
        </a:buClr>
        <a:buSzPct val="95000"/>
        <a:buFont typeface="Wingdings 2"/>
        <a:buChar char=""/>
        <a:defRPr kumimoji="0" sz="3000" kern="1200">
          <a:solidFill>
            <a:schemeClr val="tx1"/>
          </a:solidFill>
          <a:latin typeface="+mn-lt"/>
          <a:ea typeface="+mn-ea"/>
          <a:cs typeface="+mn-cs"/>
        </a:defRPr>
      </a:lvl1pPr>
      <a:lvl2pPr marL="742925" indent="-286556"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2pPr>
      <a:lvl3pPr marL="1061322" indent="-286556" algn="l" rtl="0" eaLnBrk="1" latinLnBrk="0" hangingPunct="1">
        <a:spcBef>
          <a:spcPct val="20000"/>
        </a:spcBef>
        <a:buClr>
          <a:schemeClr val="accent2"/>
        </a:buClr>
        <a:buSzPct val="70000"/>
        <a:buFont typeface="Wingdings 2"/>
        <a:buChar char=""/>
        <a:defRPr kumimoji="0" sz="2500" kern="1200">
          <a:solidFill>
            <a:schemeClr val="tx1"/>
          </a:solidFill>
          <a:latin typeface="+mn-lt"/>
          <a:ea typeface="+mn-ea"/>
          <a:cs typeface="+mn-cs"/>
        </a:defRPr>
      </a:lvl3pPr>
      <a:lvl4pPr marL="1379717" indent="-244104" algn="l" rtl="0" eaLnBrk="1" latinLnBrk="0" hangingPunct="1">
        <a:spcBef>
          <a:spcPct val="20000"/>
        </a:spcBef>
        <a:buClr>
          <a:schemeClr val="accent3"/>
        </a:buClr>
        <a:buSzPct val="65000"/>
        <a:buFont typeface="Wingdings 2"/>
        <a:buChar char=""/>
        <a:defRPr kumimoji="0" sz="2400" kern="1200">
          <a:solidFill>
            <a:schemeClr val="tx1"/>
          </a:solidFill>
          <a:latin typeface="+mn-lt"/>
          <a:ea typeface="+mn-ea"/>
          <a:cs typeface="+mn-cs"/>
        </a:defRPr>
      </a:lvl4pPr>
      <a:lvl5pPr marL="1698114" indent="-244104" algn="l" rtl="0" eaLnBrk="1" latinLnBrk="0" hangingPunct="1">
        <a:spcBef>
          <a:spcPct val="20000"/>
        </a:spcBef>
        <a:buClr>
          <a:schemeClr val="accent4"/>
        </a:buClr>
        <a:buSzPct val="65000"/>
        <a:buFont typeface="Wingdings 2"/>
        <a:buChar char=""/>
        <a:defRPr kumimoji="0" sz="2400" kern="1200">
          <a:solidFill>
            <a:schemeClr val="tx1"/>
          </a:solidFill>
          <a:latin typeface="+mn-lt"/>
          <a:ea typeface="+mn-ea"/>
          <a:cs typeface="+mn-cs"/>
        </a:defRPr>
      </a:lvl5pPr>
      <a:lvl6pPr marL="2016510" indent="-244104" algn="l" rtl="0" eaLnBrk="1" latinLnBrk="0" hangingPunct="1">
        <a:spcBef>
          <a:spcPct val="20000"/>
        </a:spcBef>
        <a:buClr>
          <a:schemeClr val="accent5"/>
        </a:buClr>
        <a:buSzPct val="80000"/>
        <a:buFont typeface="Wingdings 2"/>
        <a:buChar char=""/>
        <a:defRPr kumimoji="0" sz="2100" kern="1200">
          <a:solidFill>
            <a:schemeClr val="tx1"/>
          </a:solidFill>
          <a:latin typeface="+mn-lt"/>
          <a:ea typeface="+mn-ea"/>
          <a:cs typeface="+mn-cs"/>
        </a:defRPr>
      </a:lvl6pPr>
      <a:lvl7pPr marL="2228775" indent="-212264" algn="l" rtl="0" eaLnBrk="1" latinLnBrk="0" hangingPunct="1">
        <a:spcBef>
          <a:spcPct val="20000"/>
        </a:spcBef>
        <a:buClr>
          <a:schemeClr val="accent6"/>
        </a:buClr>
        <a:buSzPct val="80000"/>
        <a:buFont typeface="Wingdings 2"/>
        <a:buChar char=""/>
        <a:defRPr kumimoji="0" sz="1900" kern="1200" baseline="0">
          <a:solidFill>
            <a:schemeClr val="tx1"/>
          </a:solidFill>
          <a:latin typeface="+mn-lt"/>
          <a:ea typeface="+mn-ea"/>
          <a:cs typeface="+mn-cs"/>
        </a:defRPr>
      </a:lvl7pPr>
      <a:lvl8pPr marL="2547171" indent="-212264" algn="l" rtl="0" eaLnBrk="1" latinLnBrk="0" hangingPunct="1">
        <a:spcBef>
          <a:spcPct val="20000"/>
        </a:spcBef>
        <a:buClr>
          <a:schemeClr val="tx2"/>
        </a:buClr>
        <a:buChar char="•"/>
        <a:defRPr kumimoji="0" sz="1900" kern="1200">
          <a:solidFill>
            <a:schemeClr val="tx1"/>
          </a:solidFill>
          <a:latin typeface="+mn-lt"/>
          <a:ea typeface="+mn-ea"/>
          <a:cs typeface="+mn-cs"/>
        </a:defRPr>
      </a:lvl8pPr>
      <a:lvl9pPr marL="2865568" indent="-212264" algn="l" rtl="0" eaLnBrk="1" latinLnBrk="0" hangingPunct="1">
        <a:spcBef>
          <a:spcPct val="20000"/>
        </a:spcBef>
        <a:buClr>
          <a:schemeClr val="tx2"/>
        </a:buClr>
        <a:buFontTx/>
        <a:buChar char="•"/>
        <a:defRPr kumimoji="0" sz="17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530661" algn="l" rtl="0" eaLnBrk="1" latinLnBrk="0" hangingPunct="1">
        <a:defRPr kumimoji="0" kern="1200">
          <a:solidFill>
            <a:schemeClr val="tx1"/>
          </a:solidFill>
          <a:latin typeface="+mn-lt"/>
          <a:ea typeface="+mn-ea"/>
          <a:cs typeface="+mn-cs"/>
        </a:defRPr>
      </a:lvl2pPr>
      <a:lvl3pPr marL="1061322" algn="l" rtl="0" eaLnBrk="1" latinLnBrk="0" hangingPunct="1">
        <a:defRPr kumimoji="0" kern="1200">
          <a:solidFill>
            <a:schemeClr val="tx1"/>
          </a:solidFill>
          <a:latin typeface="+mn-lt"/>
          <a:ea typeface="+mn-ea"/>
          <a:cs typeface="+mn-cs"/>
        </a:defRPr>
      </a:lvl3pPr>
      <a:lvl4pPr marL="1591982" algn="l" rtl="0" eaLnBrk="1" latinLnBrk="0" hangingPunct="1">
        <a:defRPr kumimoji="0" kern="1200">
          <a:solidFill>
            <a:schemeClr val="tx1"/>
          </a:solidFill>
          <a:latin typeface="+mn-lt"/>
          <a:ea typeface="+mn-ea"/>
          <a:cs typeface="+mn-cs"/>
        </a:defRPr>
      </a:lvl4pPr>
      <a:lvl5pPr marL="2122643" algn="l" rtl="0" eaLnBrk="1" latinLnBrk="0" hangingPunct="1">
        <a:defRPr kumimoji="0" kern="1200">
          <a:solidFill>
            <a:schemeClr val="tx1"/>
          </a:solidFill>
          <a:latin typeface="+mn-lt"/>
          <a:ea typeface="+mn-ea"/>
          <a:cs typeface="+mn-cs"/>
        </a:defRPr>
      </a:lvl5pPr>
      <a:lvl6pPr marL="2653304" algn="l" rtl="0" eaLnBrk="1" latinLnBrk="0" hangingPunct="1">
        <a:defRPr kumimoji="0" kern="1200">
          <a:solidFill>
            <a:schemeClr val="tx1"/>
          </a:solidFill>
          <a:latin typeface="+mn-lt"/>
          <a:ea typeface="+mn-ea"/>
          <a:cs typeface="+mn-cs"/>
        </a:defRPr>
      </a:lvl6pPr>
      <a:lvl7pPr marL="3183964" algn="l" rtl="0" eaLnBrk="1" latinLnBrk="0" hangingPunct="1">
        <a:defRPr kumimoji="0" kern="1200">
          <a:solidFill>
            <a:schemeClr val="tx1"/>
          </a:solidFill>
          <a:latin typeface="+mn-lt"/>
          <a:ea typeface="+mn-ea"/>
          <a:cs typeface="+mn-cs"/>
        </a:defRPr>
      </a:lvl7pPr>
      <a:lvl8pPr marL="3714625" algn="l" rtl="0" eaLnBrk="1" latinLnBrk="0" hangingPunct="1">
        <a:defRPr kumimoji="0" kern="1200">
          <a:solidFill>
            <a:schemeClr val="tx1"/>
          </a:solidFill>
          <a:latin typeface="+mn-lt"/>
          <a:ea typeface="+mn-ea"/>
          <a:cs typeface="+mn-cs"/>
        </a:defRPr>
      </a:lvl8pPr>
      <a:lvl9pPr marL="4245285"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t>PHARMACY MANAGEMENT SYSTEM</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4200"/>
              <a:t>Introduction</a:t>
            </a:r>
          </a:p>
        </p:txBody>
      </p:sp>
      <p:sp>
        <p:nvSpPr>
          <p:cNvPr id="3" name="Content Placeholder 2"/>
          <p:cNvSpPr>
            <a:spLocks noGrp="1"/>
          </p:cNvSpPr>
          <p:nvPr>
            <p:ph idx="1"/>
          </p:nvPr>
        </p:nvSpPr>
        <p:spPr/>
        <p:txBody>
          <a:bodyPr/>
          <a:lstStyle/>
          <a:p>
            <a:endParaRPr lang="en-US" sz="2700" dirty="0" smtClean="0">
              <a:latin typeface="Times New Roman" pitchFamily="18" charset="0"/>
              <a:cs typeface="Times New Roman" pitchFamily="18" charset="0"/>
            </a:endParaRPr>
          </a:p>
          <a:p>
            <a:r>
              <a:rPr sz="2700" smtClean="0">
                <a:latin typeface="Times New Roman" pitchFamily="18" charset="0"/>
                <a:cs typeface="Times New Roman" pitchFamily="18" charset="0"/>
              </a:rPr>
              <a:t>The </a:t>
            </a:r>
            <a:r>
              <a:rPr sz="2700">
                <a:latin typeface="Times New Roman" pitchFamily="18" charset="0"/>
                <a:cs typeface="Times New Roman" pitchFamily="18" charset="0"/>
              </a:rPr>
              <a:t>Pharmacy Management System is a web-based application designed to streamline the operations of local pharmacies. It helps in tracking inventory, managing sales, and organizing supplier data, providing a more efficient alternative to traditional manual record-keeping</a:t>
            </a:r>
            <a:r>
              <a:rPr>
                <a:latin typeface="Times New Roman" pitchFamily="18" charset="0"/>
                <a:cs typeface="Times New Roman" pitchFamily="18" charset="0"/>
              </a:rPr>
              <a:t>.</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4200">
                <a:latin typeface="Times New Roman" pitchFamily="18" charset="0"/>
                <a:cs typeface="Times New Roman" pitchFamily="18" charset="0"/>
              </a:rPr>
              <a:t>Purpose</a:t>
            </a:r>
          </a:p>
        </p:txBody>
      </p:sp>
      <p:sp>
        <p:nvSpPr>
          <p:cNvPr id="3" name="Content Placeholder 2"/>
          <p:cNvSpPr>
            <a:spLocks noGrp="1"/>
          </p:cNvSpPr>
          <p:nvPr>
            <p:ph idx="1"/>
          </p:nvPr>
        </p:nvSpPr>
        <p:spPr/>
        <p:txBody>
          <a:bodyPr>
            <a:normAutofit/>
          </a:bodyPr>
          <a:lstStyle/>
          <a:p>
            <a:endParaRPr lang="en-US" sz="2700" dirty="0" smtClean="0">
              <a:latin typeface="Times New Roman" pitchFamily="18" charset="0"/>
              <a:cs typeface="Times New Roman" pitchFamily="18" charset="0"/>
            </a:endParaRPr>
          </a:p>
          <a:p>
            <a:r>
              <a:rPr sz="2700" smtClean="0">
                <a:latin typeface="Times New Roman" pitchFamily="18" charset="0"/>
                <a:cs typeface="Times New Roman" pitchFamily="18" charset="0"/>
              </a:rPr>
              <a:t>The </a:t>
            </a:r>
            <a:r>
              <a:rPr sz="2700">
                <a:latin typeface="Times New Roman" pitchFamily="18" charset="0"/>
                <a:cs typeface="Times New Roman" pitchFamily="18" charset="0"/>
              </a:rPr>
              <a:t>purpose of this system is to provide a reliable and efficient platform for pharmacists to manage their medical stock. It aims to reduce human error, ensure the tracking of expired products, and provide automated sales reporting to assist in better decision-making.</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dirty="0" smtClean="0">
                <a:latin typeface="Times New Roman" pitchFamily="18" charset="0"/>
                <a:cs typeface="Times New Roman" pitchFamily="18" charset="0"/>
              </a:rPr>
              <a:t>Existing System </a:t>
            </a:r>
            <a:endParaRPr lang="en-US" sz="42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endParaRPr lang="en-US" sz="2700" dirty="0" smtClean="0">
              <a:latin typeface="Times New Roman" pitchFamily="18" charset="0"/>
              <a:cs typeface="Times New Roman" pitchFamily="18" charset="0"/>
            </a:endParaRPr>
          </a:p>
          <a:p>
            <a:r>
              <a:rPr lang="en-US" sz="2700" dirty="0" smtClean="0">
                <a:latin typeface="Times New Roman" pitchFamily="18" charset="0"/>
                <a:cs typeface="Times New Roman" pitchFamily="18" charset="0"/>
              </a:rPr>
              <a:t>The existing pharmacy system is either fully manual or partially computerized.</a:t>
            </a:r>
          </a:p>
          <a:p>
            <a:pPr>
              <a:buNone/>
            </a:pPr>
            <a:r>
              <a:rPr lang="en-US" sz="2700" b="1" dirty="0" smtClean="0">
                <a:latin typeface="Times New Roman" pitchFamily="18" charset="0"/>
                <a:cs typeface="Times New Roman" pitchFamily="18" charset="0"/>
              </a:rPr>
              <a:t>    Limitations of the Existing System:</a:t>
            </a:r>
            <a:endParaRPr lang="en-US" sz="2700" dirty="0" smtClean="0">
              <a:latin typeface="Times New Roman" pitchFamily="18" charset="0"/>
              <a:cs typeface="Times New Roman" pitchFamily="18" charset="0"/>
            </a:endParaRPr>
          </a:p>
          <a:p>
            <a:pPr lvl="1"/>
            <a:r>
              <a:rPr lang="en-US" sz="2100" dirty="0" smtClean="0"/>
              <a:t>Manual data entry and record keeping</a:t>
            </a:r>
          </a:p>
          <a:p>
            <a:pPr lvl="1"/>
            <a:r>
              <a:rPr lang="en-US" sz="2100" dirty="0" smtClean="0"/>
              <a:t>No automatic low stock alert</a:t>
            </a:r>
          </a:p>
          <a:p>
            <a:pPr lvl="1"/>
            <a:r>
              <a:rPr lang="en-US" sz="2100" dirty="0" smtClean="0"/>
              <a:t>Difficulty in tracking expired medicines</a:t>
            </a:r>
          </a:p>
          <a:p>
            <a:pPr lvl="1"/>
            <a:r>
              <a:rPr lang="en-US" sz="2100" dirty="0" smtClean="0"/>
              <a:t>Time-consuming sales management</a:t>
            </a:r>
          </a:p>
          <a:p>
            <a:pPr lvl="1"/>
            <a:r>
              <a:rPr lang="en-US" sz="2100" dirty="0" smtClean="0"/>
              <a:t>High chances of human error</a:t>
            </a:r>
          </a:p>
          <a:p>
            <a:pPr lvl="1"/>
            <a:r>
              <a:rPr lang="en-US" sz="2100" dirty="0" smtClean="0"/>
              <a:t>No role-based access control</a:t>
            </a:r>
          </a:p>
          <a:p>
            <a:pPr lvl="1"/>
            <a:r>
              <a:rPr lang="en-US" sz="2100" dirty="0" smtClean="0"/>
              <a:t>Poor report generation</a:t>
            </a:r>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200" dirty="0" smtClean="0">
                <a:latin typeface="Times New Roman" pitchFamily="18" charset="0"/>
                <a:cs typeface="Times New Roman" pitchFamily="18" charset="0"/>
              </a:rPr>
              <a:t>New System</a:t>
            </a:r>
            <a:endParaRPr lang="en-US" sz="42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endParaRPr lang="en-US" dirty="0" smtClean="0"/>
          </a:p>
          <a:p>
            <a:r>
              <a:rPr lang="en-US" sz="2700" dirty="0" smtClean="0">
                <a:latin typeface="Times New Roman" pitchFamily="18" charset="0"/>
                <a:cs typeface="Times New Roman" pitchFamily="18" charset="0"/>
              </a:rPr>
              <a:t>The proposed Pharmacy Management System is a modern web-based application designed to replace manual pharmacy operations. It is developed using the </a:t>
            </a:r>
            <a:r>
              <a:rPr lang="en-US" sz="2700" dirty="0" err="1" smtClean="0">
                <a:latin typeface="Times New Roman" pitchFamily="18" charset="0"/>
                <a:cs typeface="Times New Roman" pitchFamily="18" charset="0"/>
              </a:rPr>
              <a:t>Django</a:t>
            </a:r>
            <a:r>
              <a:rPr lang="en-US" sz="2700" dirty="0" smtClean="0">
                <a:latin typeface="Times New Roman" pitchFamily="18" charset="0"/>
                <a:cs typeface="Times New Roman" pitchFamily="18" charset="0"/>
              </a:rPr>
              <a:t> framework following the MVT architecture for better performance and scalability. </a:t>
            </a:r>
          </a:p>
          <a:p>
            <a:r>
              <a:rPr lang="en-US" sz="2700" dirty="0" smtClean="0">
                <a:latin typeface="Times New Roman" pitchFamily="18" charset="0"/>
                <a:cs typeface="Times New Roman" pitchFamily="18" charset="0"/>
              </a:rPr>
              <a:t>The system provides a secure platform for user registration and login. Customers can browse medicines, view details, add items to the cart, and place orders easily. It ensures a smooth and user-friendly shopping experience. </a:t>
            </a:r>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sz="4200">
                <a:latin typeface="Times New Roman" pitchFamily="18" charset="0"/>
                <a:cs typeface="Times New Roman" pitchFamily="18" charset="0"/>
              </a:rPr>
              <a:t>Project </a:t>
            </a:r>
            <a:r>
              <a:rPr sz="4200" smtClean="0">
                <a:latin typeface="Times New Roman" pitchFamily="18" charset="0"/>
                <a:cs typeface="Times New Roman" pitchFamily="18" charset="0"/>
              </a:rPr>
              <a:t>Scope</a:t>
            </a:r>
            <a:r>
              <a:rPr lang="en-US" sz="4200" dirty="0" smtClean="0">
                <a:latin typeface="Times New Roman" pitchFamily="18" charset="0"/>
                <a:cs typeface="Times New Roman" pitchFamily="18" charset="0"/>
              </a:rPr>
              <a:t/>
            </a:r>
            <a:br>
              <a:rPr lang="en-US" sz="4200" dirty="0" smtClean="0">
                <a:latin typeface="Times New Roman" pitchFamily="18" charset="0"/>
                <a:cs typeface="Times New Roman" pitchFamily="18" charset="0"/>
              </a:rPr>
            </a:br>
            <a:endParaRPr sz="420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sz="2700">
                <a:latin typeface="Times New Roman" pitchFamily="18" charset="0"/>
                <a:cs typeface="Times New Roman" pitchFamily="18" charset="0"/>
              </a:rPr>
              <a:t>The scope includes secure user authentication, inventory management (CRUD), category and supplier management</a:t>
            </a:r>
            <a:r>
              <a:rPr sz="2700" smtClean="0">
                <a:latin typeface="Times New Roman" pitchFamily="18" charset="0"/>
                <a:cs typeface="Times New Roman" pitchFamily="18" charset="0"/>
              </a:rPr>
              <a:t>,</a:t>
            </a:r>
            <a:r>
              <a:rPr lang="en-US" sz="2700" dirty="0" smtClean="0">
                <a:latin typeface="Times New Roman" pitchFamily="18" charset="0"/>
                <a:cs typeface="Times New Roman" pitchFamily="18" charset="0"/>
              </a:rPr>
              <a:t> </a:t>
            </a:r>
            <a:r>
              <a:rPr lang="en-IN" sz="2700" dirty="0" smtClean="0">
                <a:latin typeface="Times New Roman" pitchFamily="18" charset="0"/>
                <a:cs typeface="Times New Roman" pitchFamily="18" charset="0"/>
              </a:rPr>
              <a:t>placing orders ,</a:t>
            </a:r>
            <a:r>
              <a:rPr sz="2700" smtClean="0">
                <a:latin typeface="Times New Roman" pitchFamily="18" charset="0"/>
                <a:cs typeface="Times New Roman" pitchFamily="18" charset="0"/>
              </a:rPr>
              <a:t> </a:t>
            </a:r>
            <a:r>
              <a:rPr sz="2700">
                <a:latin typeface="Times New Roman" pitchFamily="18" charset="0"/>
                <a:cs typeface="Times New Roman" pitchFamily="18" charset="0"/>
              </a:rPr>
              <a:t>order </a:t>
            </a:r>
            <a:r>
              <a:rPr sz="2700" smtClean="0">
                <a:latin typeface="Times New Roman" pitchFamily="18" charset="0"/>
                <a:cs typeface="Times New Roman" pitchFamily="18" charset="0"/>
              </a:rPr>
              <a:t>tracking</a:t>
            </a:r>
            <a:r>
              <a:rPr lang="en-US" sz="2700" dirty="0" smtClean="0">
                <a:latin typeface="Times New Roman" pitchFamily="18" charset="0"/>
                <a:cs typeface="Times New Roman" pitchFamily="18" charset="0"/>
              </a:rPr>
              <a:t> status</a:t>
            </a:r>
            <a:r>
              <a:rPr sz="2700" smtClean="0">
                <a:latin typeface="Times New Roman" pitchFamily="18" charset="0"/>
                <a:cs typeface="Times New Roman" pitchFamily="18" charset="0"/>
              </a:rPr>
              <a:t>, </a:t>
            </a:r>
            <a:r>
              <a:rPr sz="2700">
                <a:latin typeface="Times New Roman" pitchFamily="18" charset="0"/>
                <a:cs typeface="Times New Roman" pitchFamily="18" charset="0"/>
              </a:rPr>
              <a:t>and a responsive user dashboard. It focuses on the core administrative and transactional needs of a pharmacy.</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sz="4200">
                <a:latin typeface="Times New Roman" pitchFamily="18" charset="0"/>
                <a:cs typeface="Times New Roman" pitchFamily="18" charset="0"/>
              </a:rPr>
              <a:t>Problem </a:t>
            </a:r>
            <a:r>
              <a:rPr sz="4200" smtClean="0">
                <a:latin typeface="Times New Roman" pitchFamily="18" charset="0"/>
                <a:cs typeface="Times New Roman" pitchFamily="18" charset="0"/>
              </a:rPr>
              <a:t>Statement</a:t>
            </a:r>
            <a:r>
              <a:rPr lang="en-US" sz="4200" dirty="0" smtClean="0">
                <a:latin typeface="Times New Roman" pitchFamily="18" charset="0"/>
                <a:cs typeface="Times New Roman" pitchFamily="18" charset="0"/>
              </a:rPr>
              <a:t/>
            </a:r>
            <a:br>
              <a:rPr lang="en-US" sz="4200" dirty="0" smtClean="0">
                <a:latin typeface="Times New Roman" pitchFamily="18" charset="0"/>
                <a:cs typeface="Times New Roman" pitchFamily="18" charset="0"/>
              </a:rPr>
            </a:br>
            <a:endParaRPr sz="420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sz="2700">
                <a:latin typeface="Times New Roman" pitchFamily="18" charset="0"/>
                <a:cs typeface="Times New Roman" pitchFamily="18" charset="0"/>
              </a:rPr>
              <a:t>Local pharmacies struggle with manual record management, leading to stock discrepancies, expired medicine waste, and inefficient sales tracking. There is a need for a centralized digital system that provides real-time visibility and automates routine administrative tasks.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sz="4200">
                <a:latin typeface="Times New Roman" pitchFamily="18" charset="0"/>
                <a:cs typeface="Times New Roman" pitchFamily="18" charset="0"/>
              </a:rPr>
              <a:t>Key </a:t>
            </a:r>
            <a:r>
              <a:rPr sz="4200" smtClean="0">
                <a:latin typeface="Times New Roman" pitchFamily="18" charset="0"/>
                <a:cs typeface="Times New Roman" pitchFamily="18" charset="0"/>
              </a:rPr>
              <a:t>Functions</a:t>
            </a:r>
            <a:r>
              <a:rPr lang="en-US" sz="4200" dirty="0" smtClean="0">
                <a:latin typeface="Times New Roman" pitchFamily="18" charset="0"/>
                <a:cs typeface="Times New Roman" pitchFamily="18" charset="0"/>
              </a:rPr>
              <a:t/>
            </a:r>
            <a:br>
              <a:rPr lang="en-US" sz="4200" dirty="0" smtClean="0">
                <a:latin typeface="Times New Roman" pitchFamily="18" charset="0"/>
                <a:cs typeface="Times New Roman" pitchFamily="18" charset="0"/>
              </a:rPr>
            </a:br>
            <a:endParaRPr sz="420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47500" lnSpcReduction="20000"/>
          </a:bodyPr>
          <a:lstStyle/>
          <a:p>
            <a:endParaRPr sz="3900">
              <a:latin typeface="Times New Roman" pitchFamily="18" charset="0"/>
              <a:cs typeface="Times New Roman" pitchFamily="18" charset="0"/>
            </a:endParaRPr>
          </a:p>
          <a:p>
            <a:pPr lvl="0"/>
            <a:r>
              <a:rPr lang="en-IN" sz="5200" b="1" dirty="0" smtClean="0">
                <a:latin typeface="Times New Roman" pitchFamily="18" charset="0"/>
                <a:cs typeface="Times New Roman" pitchFamily="18" charset="0"/>
              </a:rPr>
              <a:t>Secure Login –</a:t>
            </a:r>
            <a:r>
              <a:rPr lang="en-IN" sz="5200" dirty="0" smtClean="0">
                <a:latin typeface="Times New Roman" pitchFamily="18" charset="0"/>
                <a:cs typeface="Times New Roman" pitchFamily="18" charset="0"/>
              </a:rPr>
              <a:t> Users can register and log in securely with authentication and OTP verification.</a:t>
            </a:r>
            <a:endParaRPr lang="en-US" sz="5200" dirty="0" smtClean="0">
              <a:latin typeface="Times New Roman" pitchFamily="18" charset="0"/>
              <a:cs typeface="Times New Roman" pitchFamily="18" charset="0"/>
            </a:endParaRPr>
          </a:p>
          <a:p>
            <a:pPr lvl="0"/>
            <a:r>
              <a:rPr lang="en-IN" sz="5200" b="1" dirty="0" smtClean="0">
                <a:latin typeface="Times New Roman" pitchFamily="18" charset="0"/>
                <a:cs typeface="Times New Roman" pitchFamily="18" charset="0"/>
              </a:rPr>
              <a:t>User-Friendly Interface –</a:t>
            </a:r>
            <a:r>
              <a:rPr lang="en-IN" sz="5200" dirty="0" smtClean="0">
                <a:latin typeface="Times New Roman" pitchFamily="18" charset="0"/>
                <a:cs typeface="Times New Roman" pitchFamily="18" charset="0"/>
              </a:rPr>
              <a:t> Simple and clean UI for easy navigation.</a:t>
            </a:r>
            <a:endParaRPr lang="en-US" sz="5200" dirty="0" smtClean="0">
              <a:latin typeface="Times New Roman" pitchFamily="18" charset="0"/>
              <a:cs typeface="Times New Roman" pitchFamily="18" charset="0"/>
            </a:endParaRPr>
          </a:p>
          <a:p>
            <a:pPr lvl="0"/>
            <a:r>
              <a:rPr lang="en-IN" sz="5200" b="1" dirty="0" smtClean="0">
                <a:latin typeface="Times New Roman" pitchFamily="18" charset="0"/>
                <a:cs typeface="Times New Roman" pitchFamily="18" charset="0"/>
              </a:rPr>
              <a:t>Browse Medicines –</a:t>
            </a:r>
            <a:r>
              <a:rPr lang="en-IN" sz="5200" dirty="0" smtClean="0">
                <a:latin typeface="Times New Roman" pitchFamily="18" charset="0"/>
                <a:cs typeface="Times New Roman" pitchFamily="18" charset="0"/>
              </a:rPr>
              <a:t> Users can view medicines with details like price, description, and images.</a:t>
            </a:r>
            <a:endParaRPr lang="en-US" sz="5200" dirty="0" smtClean="0">
              <a:latin typeface="Times New Roman" pitchFamily="18" charset="0"/>
              <a:cs typeface="Times New Roman" pitchFamily="18" charset="0"/>
            </a:endParaRPr>
          </a:p>
          <a:p>
            <a:pPr lvl="0"/>
            <a:r>
              <a:rPr lang="en-IN" sz="5200" b="1" dirty="0" smtClean="0">
                <a:latin typeface="Times New Roman" pitchFamily="18" charset="0"/>
                <a:cs typeface="Times New Roman" pitchFamily="18" charset="0"/>
              </a:rPr>
              <a:t>Category-Based Medicines –</a:t>
            </a:r>
            <a:r>
              <a:rPr lang="en-IN" sz="5200" dirty="0" smtClean="0">
                <a:latin typeface="Times New Roman" pitchFamily="18" charset="0"/>
                <a:cs typeface="Times New Roman" pitchFamily="18" charset="0"/>
              </a:rPr>
              <a:t> Medicines are organized into categories for easy searching.</a:t>
            </a:r>
            <a:endParaRPr lang="en-US" sz="5200" dirty="0" smtClean="0">
              <a:latin typeface="Times New Roman" pitchFamily="18" charset="0"/>
              <a:cs typeface="Times New Roman" pitchFamily="18" charset="0"/>
            </a:endParaRPr>
          </a:p>
          <a:p>
            <a:pPr lvl="0"/>
            <a:r>
              <a:rPr lang="en-IN" sz="5200" b="1" dirty="0" smtClean="0">
                <a:latin typeface="Times New Roman" pitchFamily="18" charset="0"/>
                <a:cs typeface="Times New Roman" pitchFamily="18" charset="0"/>
              </a:rPr>
              <a:t>Shopping Cart –</a:t>
            </a:r>
            <a:r>
              <a:rPr lang="en-IN" sz="5200" dirty="0" smtClean="0">
                <a:latin typeface="Times New Roman" pitchFamily="18" charset="0"/>
                <a:cs typeface="Times New Roman" pitchFamily="18" charset="0"/>
              </a:rPr>
              <a:t> Add, remove, and manage medicines before purchase.</a:t>
            </a:r>
            <a:endParaRPr lang="en-US" sz="5200" dirty="0" smtClean="0">
              <a:latin typeface="Times New Roman" pitchFamily="18" charset="0"/>
              <a:cs typeface="Times New Roman" pitchFamily="18" charset="0"/>
            </a:endParaRPr>
          </a:p>
          <a:p>
            <a:pPr lvl="0"/>
            <a:r>
              <a:rPr lang="en-IN" sz="5200" b="1" dirty="0" smtClean="0">
                <a:latin typeface="Times New Roman" pitchFamily="18" charset="0"/>
                <a:cs typeface="Times New Roman" pitchFamily="18" charset="0"/>
              </a:rPr>
              <a:t>Order Placement –</a:t>
            </a:r>
            <a:r>
              <a:rPr lang="en-IN" sz="5200" dirty="0" smtClean="0">
                <a:latin typeface="Times New Roman" pitchFamily="18" charset="0"/>
                <a:cs typeface="Times New Roman" pitchFamily="18" charset="0"/>
              </a:rPr>
              <a:t> Users can place orders with proper checkout process.</a:t>
            </a:r>
            <a:endParaRPr lang="en-US" sz="5200" dirty="0" smtClean="0">
              <a:latin typeface="Times New Roman" pitchFamily="18" charset="0"/>
              <a:cs typeface="Times New Roman" pitchFamily="18" charset="0"/>
            </a:endParaRPr>
          </a:p>
          <a:p>
            <a:pPr lvl="0"/>
            <a:r>
              <a:rPr lang="en-IN" sz="5200" b="1" dirty="0" smtClean="0">
                <a:latin typeface="Times New Roman" pitchFamily="18" charset="0"/>
                <a:cs typeface="Times New Roman" pitchFamily="18" charset="0"/>
              </a:rPr>
              <a:t>Order Tracking –</a:t>
            </a:r>
            <a:r>
              <a:rPr lang="en-IN" sz="5200" dirty="0" smtClean="0">
                <a:latin typeface="Times New Roman" pitchFamily="18" charset="0"/>
                <a:cs typeface="Times New Roman" pitchFamily="18" charset="0"/>
              </a:rPr>
              <a:t> Track order status such as placed, dispatched, or delivered.</a:t>
            </a:r>
            <a:endParaRPr lang="en-US" sz="5200" dirty="0" smtClean="0">
              <a:latin typeface="Times New Roman" pitchFamily="18" charset="0"/>
              <a:cs typeface="Times New Roman" pitchFamily="18" charset="0"/>
            </a:endParaRPr>
          </a:p>
          <a:p>
            <a:pPr lvl="0"/>
            <a:r>
              <a:rPr lang="en-IN" sz="5200" b="1" dirty="0" smtClean="0">
                <a:latin typeface="Times New Roman" pitchFamily="18" charset="0"/>
                <a:cs typeface="Times New Roman" pitchFamily="18" charset="0"/>
              </a:rPr>
              <a:t>Admin Dashboard –</a:t>
            </a:r>
            <a:r>
              <a:rPr lang="en-IN" sz="5200" dirty="0" smtClean="0">
                <a:latin typeface="Times New Roman" pitchFamily="18" charset="0"/>
                <a:cs typeface="Times New Roman" pitchFamily="18" charset="0"/>
              </a:rPr>
              <a:t> Admin can manage products, suppliers, and orders efficiently.</a:t>
            </a:r>
            <a:endParaRPr lang="en-US" sz="5200" dirty="0" smtClean="0">
              <a:latin typeface="Times New Roman" pitchFamily="18" charset="0"/>
              <a:cs typeface="Times New Roman" pitchFamily="18" charset="0"/>
            </a:endParaRPr>
          </a:p>
          <a:p>
            <a:pPr lvl="0"/>
            <a:r>
              <a:rPr lang="en-IN" sz="5200" b="1" dirty="0" smtClean="0">
                <a:latin typeface="Times New Roman" pitchFamily="18" charset="0"/>
                <a:cs typeface="Times New Roman" pitchFamily="18" charset="0"/>
              </a:rPr>
              <a:t>Inventory Management –</a:t>
            </a:r>
            <a:r>
              <a:rPr lang="en-IN" sz="5200" dirty="0" smtClean="0">
                <a:latin typeface="Times New Roman" pitchFamily="18" charset="0"/>
                <a:cs typeface="Times New Roman" pitchFamily="18" charset="0"/>
              </a:rPr>
              <a:t> Real-time stock tracking with low stock and expiry alerts.</a:t>
            </a:r>
            <a:endParaRPr lang="en-US" sz="5200" dirty="0" smtClean="0">
              <a:latin typeface="Times New Roman" pitchFamily="18" charset="0"/>
              <a:cs typeface="Times New Roman" pitchFamily="18" charset="0"/>
            </a:endParaRPr>
          </a:p>
          <a:p>
            <a:pPr lvl="0"/>
            <a:r>
              <a:rPr lang="en-IN" sz="5200" b="1" dirty="0" smtClean="0">
                <a:latin typeface="Times New Roman" pitchFamily="18" charset="0"/>
                <a:cs typeface="Times New Roman" pitchFamily="18" charset="0"/>
              </a:rPr>
              <a:t>Report Generation </a:t>
            </a:r>
            <a:r>
              <a:rPr lang="en-IN" sz="5200" b="1" dirty="0" smtClean="0"/>
              <a:t>–</a:t>
            </a:r>
            <a:r>
              <a:rPr lang="en-IN" sz="5200" dirty="0" smtClean="0"/>
              <a:t> </a:t>
            </a:r>
            <a:r>
              <a:rPr lang="en-IN" sz="5200" dirty="0" smtClean="0">
                <a:latin typeface="Times New Roman" pitchFamily="18" charset="0"/>
                <a:cs typeface="Times New Roman" pitchFamily="18" charset="0"/>
              </a:rPr>
              <a:t>Generates sales and inventory reports for better decision-making.</a:t>
            </a:r>
            <a:endParaRPr lang="en-US" sz="5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sz="4200" smtClean="0">
                <a:latin typeface="Times New Roman" pitchFamily="18" charset="0"/>
                <a:cs typeface="Times New Roman" pitchFamily="18" charset="0"/>
              </a:rPr>
              <a:t>Advantages</a:t>
            </a:r>
            <a:r>
              <a:rPr lang="en-US" sz="4200" dirty="0" smtClean="0">
                <a:latin typeface="Times New Roman" pitchFamily="18" charset="0"/>
                <a:cs typeface="Times New Roman" pitchFamily="18" charset="0"/>
              </a:rPr>
              <a:t/>
            </a:r>
            <a:br>
              <a:rPr lang="en-US" sz="4200" dirty="0" smtClean="0">
                <a:latin typeface="Times New Roman" pitchFamily="18" charset="0"/>
                <a:cs typeface="Times New Roman" pitchFamily="18" charset="0"/>
              </a:rPr>
            </a:br>
            <a:endParaRPr sz="420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None/>
            </a:pPr>
            <a:endParaRPr smtClean="0"/>
          </a:p>
          <a:p>
            <a:r>
              <a:rPr lang="en-US" sz="2700" b="1" dirty="0" smtClean="0">
                <a:latin typeface="Times New Roman" pitchFamily="18" charset="0"/>
                <a:cs typeface="Times New Roman" pitchFamily="18" charset="0"/>
              </a:rPr>
              <a:t> </a:t>
            </a:r>
            <a:r>
              <a:rPr sz="2700" b="1" smtClean="0">
                <a:latin typeface="Times New Roman" pitchFamily="18" charset="0"/>
                <a:cs typeface="Times New Roman" pitchFamily="18" charset="0"/>
              </a:rPr>
              <a:t>Accuracy</a:t>
            </a:r>
            <a:r>
              <a:rPr lang="en-US" sz="2700" b="1" dirty="0" smtClean="0">
                <a:latin typeface="Times New Roman" pitchFamily="18" charset="0"/>
                <a:cs typeface="Times New Roman" pitchFamily="18" charset="0"/>
              </a:rPr>
              <a:t> </a:t>
            </a:r>
            <a:r>
              <a:rPr sz="2700" smtClean="0">
                <a:latin typeface="Times New Roman" pitchFamily="18" charset="0"/>
                <a:cs typeface="Times New Roman" pitchFamily="18" charset="0"/>
              </a:rPr>
              <a:t>: </a:t>
            </a:r>
            <a:r>
              <a:rPr sz="2700">
                <a:latin typeface="Times New Roman" pitchFamily="18" charset="0"/>
                <a:cs typeface="Times New Roman" pitchFamily="18" charset="0"/>
              </a:rPr>
              <a:t>Minimizes human errors in record-keeping.</a:t>
            </a:r>
          </a:p>
          <a:p>
            <a:r>
              <a:rPr sz="2700" smtClean="0">
                <a:latin typeface="Times New Roman" pitchFamily="18" charset="0"/>
                <a:cs typeface="Times New Roman" pitchFamily="18" charset="0"/>
              </a:rPr>
              <a:t> </a:t>
            </a:r>
            <a:r>
              <a:rPr sz="2700" b="1" smtClean="0">
                <a:latin typeface="Times New Roman" pitchFamily="18" charset="0"/>
                <a:cs typeface="Times New Roman" pitchFamily="18" charset="0"/>
              </a:rPr>
              <a:t>Efficiency</a:t>
            </a:r>
            <a:r>
              <a:rPr lang="en-US" sz="2700" b="1" dirty="0" smtClean="0">
                <a:latin typeface="Times New Roman" pitchFamily="18" charset="0"/>
                <a:cs typeface="Times New Roman" pitchFamily="18" charset="0"/>
              </a:rPr>
              <a:t> </a:t>
            </a:r>
            <a:r>
              <a:rPr sz="2700" smtClean="0">
                <a:latin typeface="Times New Roman" pitchFamily="18" charset="0"/>
                <a:cs typeface="Times New Roman" pitchFamily="18" charset="0"/>
              </a:rPr>
              <a:t>: </a:t>
            </a:r>
            <a:r>
              <a:rPr sz="2700">
                <a:latin typeface="Times New Roman" pitchFamily="18" charset="0"/>
                <a:cs typeface="Times New Roman" pitchFamily="18" charset="0"/>
              </a:rPr>
              <a:t>Quick access to stock data and sales reports.</a:t>
            </a:r>
          </a:p>
          <a:p>
            <a:r>
              <a:rPr sz="2700" smtClean="0">
                <a:latin typeface="Times New Roman" pitchFamily="18" charset="0"/>
                <a:cs typeface="Times New Roman" pitchFamily="18" charset="0"/>
              </a:rPr>
              <a:t> </a:t>
            </a:r>
            <a:r>
              <a:rPr sz="2700" b="1">
                <a:latin typeface="Times New Roman" pitchFamily="18" charset="0"/>
                <a:cs typeface="Times New Roman" pitchFamily="18" charset="0"/>
              </a:rPr>
              <a:t>Expiry Management</a:t>
            </a:r>
            <a:r>
              <a:rPr sz="2700">
                <a:latin typeface="Times New Roman" pitchFamily="18" charset="0"/>
                <a:cs typeface="Times New Roman" pitchFamily="18" charset="0"/>
              </a:rPr>
              <a:t>: Prevents health risks and revenue loss.</a:t>
            </a:r>
          </a:p>
          <a:p>
            <a:r>
              <a:rPr lang="en-US" sz="2700" b="1" dirty="0" smtClean="0">
                <a:latin typeface="Times New Roman" pitchFamily="18" charset="0"/>
                <a:cs typeface="Times New Roman" pitchFamily="18" charset="0"/>
              </a:rPr>
              <a:t> </a:t>
            </a:r>
            <a:r>
              <a:rPr sz="2700" b="1" smtClean="0">
                <a:latin typeface="Times New Roman" pitchFamily="18" charset="0"/>
                <a:cs typeface="Times New Roman" pitchFamily="18" charset="0"/>
              </a:rPr>
              <a:t>Centralized </a:t>
            </a:r>
            <a:r>
              <a:rPr sz="2700" b="1">
                <a:latin typeface="Times New Roman" pitchFamily="18" charset="0"/>
                <a:cs typeface="Times New Roman" pitchFamily="18" charset="0"/>
              </a:rPr>
              <a:t>Data</a:t>
            </a:r>
            <a:r>
              <a:rPr sz="2700">
                <a:latin typeface="Times New Roman" pitchFamily="18" charset="0"/>
                <a:cs typeface="Times New Roman" pitchFamily="18" charset="0"/>
              </a:rPr>
              <a:t>: Secured with a relational database.</a:t>
            </a:r>
          </a:p>
          <a:p>
            <a:r>
              <a:rPr sz="2700" smtClean="0">
                <a:latin typeface="Times New Roman" pitchFamily="18" charset="0"/>
                <a:cs typeface="Times New Roman" pitchFamily="18" charset="0"/>
              </a:rPr>
              <a:t> </a:t>
            </a:r>
            <a:r>
              <a:rPr sz="2700" b="1">
                <a:latin typeface="Times New Roman" pitchFamily="18" charset="0"/>
                <a:cs typeface="Times New Roman" pitchFamily="18" charset="0"/>
              </a:rPr>
              <a:t>Scalability</a:t>
            </a:r>
            <a:r>
              <a:rPr sz="2700">
                <a:latin typeface="Times New Roman" pitchFamily="18" charset="0"/>
                <a:cs typeface="Times New Roman" pitchFamily="18" charset="0"/>
              </a:rPr>
              <a:t>: Modern tech stack for future growth.</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sz="4200">
                <a:latin typeface="Times New Roman" pitchFamily="18" charset="0"/>
                <a:cs typeface="Times New Roman" pitchFamily="18" charset="0"/>
              </a:rPr>
              <a:t>Hardware </a:t>
            </a:r>
            <a:r>
              <a:rPr sz="4200" smtClean="0">
                <a:latin typeface="Times New Roman" pitchFamily="18" charset="0"/>
                <a:cs typeface="Times New Roman" pitchFamily="18" charset="0"/>
              </a:rPr>
              <a:t>Requirements</a:t>
            </a:r>
            <a:r>
              <a:rPr lang="en-US" sz="4200" dirty="0" smtClean="0">
                <a:latin typeface="Times New Roman" pitchFamily="18" charset="0"/>
                <a:cs typeface="Times New Roman" pitchFamily="18" charset="0"/>
              </a:rPr>
              <a:t/>
            </a:r>
            <a:br>
              <a:rPr lang="en-US" sz="4200" dirty="0" smtClean="0">
                <a:latin typeface="Times New Roman" pitchFamily="18" charset="0"/>
                <a:cs typeface="Times New Roman" pitchFamily="18" charset="0"/>
              </a:rPr>
            </a:br>
            <a:endParaRPr sz="420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smtClean="0">
                <a:latin typeface="Times New Roman" pitchFamily="18" charset="0"/>
                <a:cs typeface="Times New Roman" pitchFamily="18" charset="0"/>
              </a:rPr>
              <a:t> </a:t>
            </a:r>
            <a:r>
              <a:rPr>
                <a:latin typeface="Times New Roman" pitchFamily="18" charset="0"/>
                <a:cs typeface="Times New Roman" pitchFamily="18" charset="0"/>
              </a:rPr>
              <a:t>Android Smartphone or PC/Laptop</a:t>
            </a:r>
          </a:p>
          <a:p>
            <a:r>
              <a:rPr smtClean="0">
                <a:latin typeface="Times New Roman" pitchFamily="18" charset="0"/>
                <a:cs typeface="Times New Roman" pitchFamily="18" charset="0"/>
              </a:rPr>
              <a:t> </a:t>
            </a:r>
            <a:r>
              <a:rPr>
                <a:latin typeface="Times New Roman" pitchFamily="18" charset="0"/>
                <a:cs typeface="Times New Roman" pitchFamily="18" charset="0"/>
              </a:rPr>
              <a:t>Processor: Intel i3 or above</a:t>
            </a:r>
          </a:p>
          <a:p>
            <a:r>
              <a:rPr smtClean="0">
                <a:latin typeface="Times New Roman" pitchFamily="18" charset="0"/>
                <a:cs typeface="Times New Roman" pitchFamily="18" charset="0"/>
              </a:rPr>
              <a:t> </a:t>
            </a:r>
            <a:r>
              <a:rPr>
                <a:latin typeface="Times New Roman" pitchFamily="18" charset="0"/>
                <a:cs typeface="Times New Roman" pitchFamily="18" charset="0"/>
              </a:rPr>
              <a:t>RAM: Minimum 4GB (8GB recommended)</a:t>
            </a:r>
          </a:p>
          <a:p>
            <a:r>
              <a:rPr smtClean="0">
                <a:latin typeface="Times New Roman" pitchFamily="18" charset="0"/>
                <a:cs typeface="Times New Roman" pitchFamily="18" charset="0"/>
              </a:rPr>
              <a:t> </a:t>
            </a:r>
            <a:r>
              <a:rPr>
                <a:latin typeface="Times New Roman" pitchFamily="18" charset="0"/>
                <a:cs typeface="Times New Roman" pitchFamily="18" charset="0"/>
              </a:rPr>
              <a:t>Storage: 500MB+ for installation &amp; data</a:t>
            </a:r>
          </a:p>
          <a:p>
            <a:r>
              <a:rPr smtClean="0">
                <a:latin typeface="Times New Roman" pitchFamily="18" charset="0"/>
                <a:cs typeface="Times New Roman" pitchFamily="18" charset="0"/>
              </a:rPr>
              <a:t> </a:t>
            </a:r>
            <a:r>
              <a:rPr>
                <a:latin typeface="Times New Roman" pitchFamily="18" charset="0"/>
                <a:cs typeface="Times New Roman" pitchFamily="18" charset="0"/>
              </a:rPr>
              <a:t>Internet Connection for real-time services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sz="4200">
                <a:latin typeface="Times New Roman" pitchFamily="18" charset="0"/>
                <a:cs typeface="Times New Roman" pitchFamily="18" charset="0"/>
              </a:rPr>
              <a:t>Software </a:t>
            </a:r>
            <a:r>
              <a:rPr sz="4200" smtClean="0">
                <a:latin typeface="Times New Roman" pitchFamily="18" charset="0"/>
                <a:cs typeface="Times New Roman" pitchFamily="18" charset="0"/>
              </a:rPr>
              <a:t>Requirements</a:t>
            </a:r>
            <a:r>
              <a:rPr lang="en-US" sz="4200" dirty="0" smtClean="0">
                <a:latin typeface="Times New Roman" pitchFamily="18" charset="0"/>
                <a:cs typeface="Times New Roman" pitchFamily="18" charset="0"/>
              </a:rPr>
              <a:t/>
            </a:r>
            <a:br>
              <a:rPr lang="en-US" sz="4200" dirty="0" smtClean="0">
                <a:latin typeface="Times New Roman" pitchFamily="18" charset="0"/>
                <a:cs typeface="Times New Roman" pitchFamily="18" charset="0"/>
              </a:rPr>
            </a:br>
            <a:endParaRPr sz="420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smtClean="0"/>
              <a:t> </a:t>
            </a:r>
            <a:r>
              <a:rPr b="1">
                <a:latin typeface="Times New Roman" pitchFamily="18" charset="0"/>
                <a:cs typeface="Times New Roman" pitchFamily="18" charset="0"/>
              </a:rPr>
              <a:t>Operating </a:t>
            </a:r>
            <a:r>
              <a:rPr b="1" smtClean="0">
                <a:latin typeface="Times New Roman" pitchFamily="18" charset="0"/>
                <a:cs typeface="Times New Roman" pitchFamily="18" charset="0"/>
              </a:rPr>
              <a:t>System</a:t>
            </a:r>
            <a:r>
              <a:rPr lang="en-US" b="1" dirty="0" smtClean="0">
                <a:latin typeface="Times New Roman" pitchFamily="18" charset="0"/>
                <a:cs typeface="Times New Roman" pitchFamily="18" charset="0"/>
              </a:rPr>
              <a:t> </a:t>
            </a:r>
            <a:r>
              <a:rPr smtClean="0">
                <a:latin typeface="Times New Roman" pitchFamily="18" charset="0"/>
                <a:cs typeface="Times New Roman" pitchFamily="18" charset="0"/>
              </a:rPr>
              <a:t>: </a:t>
            </a:r>
            <a:r>
              <a:rPr>
                <a:latin typeface="Times New Roman" pitchFamily="18" charset="0"/>
                <a:cs typeface="Times New Roman" pitchFamily="18" charset="0"/>
              </a:rPr>
              <a:t>Windows / macOS / Linux</a:t>
            </a:r>
          </a:p>
          <a:p>
            <a:r>
              <a:rPr smtClean="0">
                <a:latin typeface="Times New Roman" pitchFamily="18" charset="0"/>
                <a:cs typeface="Times New Roman" pitchFamily="18" charset="0"/>
              </a:rPr>
              <a:t> </a:t>
            </a:r>
            <a:r>
              <a:rPr b="1" smtClean="0">
                <a:latin typeface="Times New Roman" pitchFamily="18" charset="0"/>
                <a:cs typeface="Times New Roman" pitchFamily="18" charset="0"/>
              </a:rPr>
              <a:t>Backend</a:t>
            </a:r>
            <a:r>
              <a:rPr lang="en-US" b="1" dirty="0" smtClean="0">
                <a:latin typeface="Times New Roman" pitchFamily="18" charset="0"/>
                <a:cs typeface="Times New Roman" pitchFamily="18" charset="0"/>
              </a:rPr>
              <a:t> </a:t>
            </a:r>
            <a:r>
              <a:rPr smtClean="0">
                <a:latin typeface="Times New Roman" pitchFamily="18" charset="0"/>
                <a:cs typeface="Times New Roman" pitchFamily="18" charset="0"/>
              </a:rPr>
              <a:t>: </a:t>
            </a:r>
            <a:r>
              <a:rPr>
                <a:latin typeface="Times New Roman" pitchFamily="18" charset="0"/>
                <a:cs typeface="Times New Roman" pitchFamily="18" charset="0"/>
              </a:rPr>
              <a:t>Python (Django Framework)</a:t>
            </a:r>
          </a:p>
          <a:p>
            <a:r>
              <a:rPr smtClean="0">
                <a:latin typeface="Times New Roman" pitchFamily="18" charset="0"/>
                <a:cs typeface="Times New Roman" pitchFamily="18" charset="0"/>
              </a:rPr>
              <a:t> </a:t>
            </a:r>
            <a:r>
              <a:rPr b="1" smtClean="0">
                <a:latin typeface="Times New Roman" pitchFamily="18" charset="0"/>
                <a:cs typeface="Times New Roman" pitchFamily="18" charset="0"/>
              </a:rPr>
              <a:t>Frontend</a:t>
            </a:r>
            <a:r>
              <a:rPr lang="en-US" b="1" dirty="0" smtClean="0">
                <a:latin typeface="Times New Roman" pitchFamily="18" charset="0"/>
                <a:cs typeface="Times New Roman" pitchFamily="18" charset="0"/>
              </a:rPr>
              <a:t> </a:t>
            </a:r>
            <a:r>
              <a:rPr smtClean="0">
                <a:latin typeface="Times New Roman" pitchFamily="18" charset="0"/>
                <a:cs typeface="Times New Roman" pitchFamily="18" charset="0"/>
              </a:rPr>
              <a:t>: </a:t>
            </a:r>
            <a:r>
              <a:rPr>
                <a:latin typeface="Times New Roman" pitchFamily="18" charset="0"/>
                <a:cs typeface="Times New Roman" pitchFamily="18" charset="0"/>
              </a:rPr>
              <a:t>HTML, CSS, JavaScript</a:t>
            </a:r>
          </a:p>
          <a:p>
            <a:r>
              <a:rPr smtClean="0">
                <a:latin typeface="Times New Roman" pitchFamily="18" charset="0"/>
                <a:cs typeface="Times New Roman" pitchFamily="18" charset="0"/>
              </a:rPr>
              <a:t> </a:t>
            </a:r>
            <a:r>
              <a:rPr b="1" smtClean="0">
                <a:latin typeface="Times New Roman" pitchFamily="18" charset="0"/>
                <a:cs typeface="Times New Roman" pitchFamily="18" charset="0"/>
              </a:rPr>
              <a:t>Database</a:t>
            </a:r>
            <a:r>
              <a:rPr lang="en-US" b="1" dirty="0" smtClean="0">
                <a:latin typeface="Times New Roman" pitchFamily="18" charset="0"/>
                <a:cs typeface="Times New Roman" pitchFamily="18" charset="0"/>
              </a:rPr>
              <a:t> </a:t>
            </a:r>
            <a:r>
              <a:rPr smtClean="0">
                <a:latin typeface="Times New Roman" pitchFamily="18" charset="0"/>
                <a:cs typeface="Times New Roman" pitchFamily="18" charset="0"/>
              </a:rPr>
              <a:t>: </a:t>
            </a:r>
            <a:r>
              <a:rPr>
                <a:latin typeface="Times New Roman" pitchFamily="18" charset="0"/>
                <a:cs typeface="Times New Roman" pitchFamily="18" charset="0"/>
              </a:rPr>
              <a:t>SQLite / PostgreSQL</a:t>
            </a:r>
          </a:p>
          <a:p>
            <a:r>
              <a:rPr smtClean="0">
                <a:latin typeface="Times New Roman" pitchFamily="18" charset="0"/>
                <a:cs typeface="Times New Roman" pitchFamily="18" charset="0"/>
              </a:rPr>
              <a:t> </a:t>
            </a:r>
            <a:r>
              <a:rPr b="1" smtClean="0">
                <a:latin typeface="Times New Roman" pitchFamily="18" charset="0"/>
                <a:cs typeface="Times New Roman" pitchFamily="18" charset="0"/>
              </a:rPr>
              <a:t>Architecture</a:t>
            </a:r>
            <a:r>
              <a:rPr lang="en-US" b="1" dirty="0" smtClean="0">
                <a:latin typeface="Times New Roman" pitchFamily="18" charset="0"/>
                <a:cs typeface="Times New Roman" pitchFamily="18" charset="0"/>
              </a:rPr>
              <a:t> </a:t>
            </a:r>
            <a:r>
              <a:rPr smtClean="0">
                <a:latin typeface="Times New Roman" pitchFamily="18" charset="0"/>
                <a:cs typeface="Times New Roman" pitchFamily="18" charset="0"/>
              </a:rPr>
              <a:t>: </a:t>
            </a:r>
            <a:r>
              <a:rPr>
                <a:latin typeface="Times New Roman" pitchFamily="18" charset="0"/>
                <a:cs typeface="Times New Roman" pitchFamily="18" charset="0"/>
              </a:rPr>
              <a:t>MVT (Model-View-Template</a:t>
            </a:r>
            <a:r>
              <a:rPr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r>
              <a:rPr lang="en-IN" b="1" dirty="0" smtClean="0"/>
              <a:t>Code Editor</a:t>
            </a:r>
            <a:r>
              <a:rPr lang="en-IN" dirty="0" smtClean="0"/>
              <a:t> – VS Code </a:t>
            </a:r>
            <a:endParaRPr>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sz="4200">
                <a:latin typeface="Times New Roman" pitchFamily="18" charset="0"/>
                <a:cs typeface="Times New Roman" pitchFamily="18" charset="0"/>
              </a:rPr>
              <a:t>Requirements for </a:t>
            </a:r>
            <a:r>
              <a:rPr sz="4200" smtClean="0">
                <a:latin typeface="Times New Roman" pitchFamily="18" charset="0"/>
                <a:cs typeface="Times New Roman" pitchFamily="18" charset="0"/>
              </a:rPr>
              <a:t>Users</a:t>
            </a:r>
            <a:r>
              <a:rPr lang="en-US" sz="4200" dirty="0" smtClean="0">
                <a:latin typeface="Times New Roman" pitchFamily="18" charset="0"/>
                <a:cs typeface="Times New Roman" pitchFamily="18" charset="0"/>
              </a:rPr>
              <a:t/>
            </a:r>
            <a:br>
              <a:rPr lang="en-US" sz="4200" dirty="0" smtClean="0">
                <a:latin typeface="Times New Roman" pitchFamily="18" charset="0"/>
                <a:cs typeface="Times New Roman" pitchFamily="18" charset="0"/>
              </a:rPr>
            </a:br>
            <a:endParaRPr sz="420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t> </a:t>
            </a:r>
            <a:r>
              <a:rPr smtClean="0">
                <a:latin typeface="Times New Roman" pitchFamily="18" charset="0"/>
                <a:cs typeface="Times New Roman" pitchFamily="18" charset="0"/>
              </a:rPr>
              <a:t>Valid </a:t>
            </a:r>
            <a:r>
              <a:rPr>
                <a:latin typeface="Times New Roman" pitchFamily="18" charset="0"/>
                <a:cs typeface="Times New Roman" pitchFamily="18" charset="0"/>
              </a:rPr>
              <a:t>Email ID for registration/login</a:t>
            </a:r>
          </a:p>
          <a:p>
            <a:r>
              <a:rPr smtClean="0">
                <a:latin typeface="Times New Roman" pitchFamily="18" charset="0"/>
                <a:cs typeface="Times New Roman" pitchFamily="18" charset="0"/>
              </a:rPr>
              <a:t> </a:t>
            </a:r>
            <a:r>
              <a:rPr>
                <a:latin typeface="Times New Roman" pitchFamily="18" charset="0"/>
                <a:cs typeface="Times New Roman" pitchFamily="18" charset="0"/>
              </a:rPr>
              <a:t>Basic knowledge of pharmacy operations</a:t>
            </a:r>
          </a:p>
          <a:p>
            <a:r>
              <a:rPr smtClean="0">
                <a:latin typeface="Times New Roman" pitchFamily="18" charset="0"/>
                <a:cs typeface="Times New Roman" pitchFamily="18" charset="0"/>
              </a:rPr>
              <a:t> </a:t>
            </a:r>
            <a:r>
              <a:rPr>
                <a:latin typeface="Times New Roman" pitchFamily="18" charset="0"/>
                <a:cs typeface="Times New Roman" pitchFamily="18" charset="0"/>
              </a:rPr>
              <a:t>Stable internet connection for system access</a:t>
            </a:r>
          </a:p>
          <a:p>
            <a:r>
              <a:rPr smtClean="0">
                <a:latin typeface="Times New Roman" pitchFamily="18" charset="0"/>
                <a:cs typeface="Times New Roman" pitchFamily="18" charset="0"/>
              </a:rPr>
              <a:t> </a:t>
            </a:r>
            <a:r>
              <a:rPr>
                <a:latin typeface="Times New Roman" pitchFamily="18" charset="0"/>
                <a:cs typeface="Times New Roman" pitchFamily="18" charset="0"/>
              </a:rPr>
              <a:t>Proper browser support (Chrome/Firefox)</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t>Process Model (</a:t>
            </a:r>
            <a:r>
              <a:rPr/>
              <a:t>MVT</a:t>
            </a:r>
            <a:r>
              <a:rPr smtClean="0"/>
              <a:t>)</a:t>
            </a:r>
            <a:r>
              <a:rPr lang="en-US" dirty="0" smtClean="0"/>
              <a:t/>
            </a:r>
            <a:br>
              <a:rPr lang="en-US" dirty="0" smtClean="0"/>
            </a:br>
            <a:endParaRPr/>
          </a:p>
        </p:txBody>
      </p:sp>
      <p:sp>
        <p:nvSpPr>
          <p:cNvPr id="3" name="Content Placeholder 2"/>
          <p:cNvSpPr>
            <a:spLocks noGrp="1"/>
          </p:cNvSpPr>
          <p:nvPr>
            <p:ph idx="1"/>
          </p:nvPr>
        </p:nvSpPr>
        <p:spPr/>
        <p:txBody>
          <a:bodyPr>
            <a:normAutofit/>
          </a:bodyPr>
          <a:lstStyle/>
          <a:p>
            <a:r>
              <a:rPr smtClean="0"/>
              <a:t> </a:t>
            </a:r>
            <a:r>
              <a:rPr b="1">
                <a:latin typeface="Times New Roman" pitchFamily="18" charset="0"/>
                <a:cs typeface="Times New Roman" pitchFamily="18" charset="0"/>
              </a:rPr>
              <a:t>Requirements</a:t>
            </a:r>
            <a:r>
              <a:rPr>
                <a:latin typeface="Times New Roman" pitchFamily="18" charset="0"/>
                <a:cs typeface="Times New Roman" pitchFamily="18" charset="0"/>
              </a:rPr>
              <a:t>: Identify inventory and sales needs.</a:t>
            </a:r>
          </a:p>
          <a:p>
            <a:r>
              <a:rPr smtClean="0">
                <a:latin typeface="Times New Roman" pitchFamily="18" charset="0"/>
                <a:cs typeface="Times New Roman" pitchFamily="18" charset="0"/>
              </a:rPr>
              <a:t> </a:t>
            </a:r>
            <a:r>
              <a:rPr b="1">
                <a:latin typeface="Times New Roman" pitchFamily="18" charset="0"/>
                <a:cs typeface="Times New Roman" pitchFamily="18" charset="0"/>
              </a:rPr>
              <a:t>Analysis</a:t>
            </a:r>
            <a:r>
              <a:rPr>
                <a:latin typeface="Times New Roman" pitchFamily="18" charset="0"/>
                <a:cs typeface="Times New Roman" pitchFamily="18" charset="0"/>
              </a:rPr>
              <a:t>: Map data flow (Products/Suppliers/Orders).</a:t>
            </a:r>
          </a:p>
          <a:p>
            <a:r>
              <a:rPr smtClean="0">
                <a:latin typeface="Times New Roman" pitchFamily="18" charset="0"/>
                <a:cs typeface="Times New Roman" pitchFamily="18" charset="0"/>
              </a:rPr>
              <a:t> </a:t>
            </a:r>
            <a:r>
              <a:rPr b="1">
                <a:latin typeface="Times New Roman" pitchFamily="18" charset="0"/>
                <a:cs typeface="Times New Roman" pitchFamily="18" charset="0"/>
              </a:rPr>
              <a:t>Design</a:t>
            </a:r>
            <a:r>
              <a:rPr>
                <a:latin typeface="Times New Roman" pitchFamily="18" charset="0"/>
                <a:cs typeface="Times New Roman" pitchFamily="18" charset="0"/>
              </a:rPr>
              <a:t>: Create MVT structure and UI layouts.</a:t>
            </a:r>
          </a:p>
          <a:p>
            <a:r>
              <a:rPr smtClean="0">
                <a:latin typeface="Times New Roman" pitchFamily="18" charset="0"/>
                <a:cs typeface="Times New Roman" pitchFamily="18" charset="0"/>
              </a:rPr>
              <a:t> </a:t>
            </a:r>
            <a:r>
              <a:rPr b="1">
                <a:latin typeface="Times New Roman" pitchFamily="18" charset="0"/>
                <a:cs typeface="Times New Roman" pitchFamily="18" charset="0"/>
              </a:rPr>
              <a:t>Implementation</a:t>
            </a:r>
            <a:r>
              <a:rPr>
                <a:latin typeface="Times New Roman" pitchFamily="18" charset="0"/>
                <a:cs typeface="Times New Roman" pitchFamily="18" charset="0"/>
              </a:rPr>
              <a:t>: Develop using Django &amp; Python.</a:t>
            </a:r>
          </a:p>
          <a:p>
            <a:r>
              <a:rPr smtClean="0">
                <a:latin typeface="Times New Roman" pitchFamily="18" charset="0"/>
                <a:cs typeface="Times New Roman" pitchFamily="18" charset="0"/>
              </a:rPr>
              <a:t> </a:t>
            </a:r>
            <a:r>
              <a:rPr b="1">
                <a:latin typeface="Times New Roman" pitchFamily="18" charset="0"/>
                <a:cs typeface="Times New Roman" pitchFamily="18" charset="0"/>
              </a:rPr>
              <a:t>Testing</a:t>
            </a:r>
            <a:r>
              <a:rPr>
                <a:latin typeface="Times New Roman" pitchFamily="18" charset="0"/>
                <a:cs typeface="Times New Roman" pitchFamily="18" charset="0"/>
              </a:rPr>
              <a:t>: Validate models and view response.</a:t>
            </a:r>
          </a:p>
          <a:p>
            <a:r>
              <a:rPr smtClean="0">
                <a:latin typeface="Times New Roman" pitchFamily="18" charset="0"/>
                <a:cs typeface="Times New Roman" pitchFamily="18" charset="0"/>
              </a:rPr>
              <a:t> </a:t>
            </a:r>
            <a:r>
              <a:rPr b="1">
                <a:latin typeface="Times New Roman" pitchFamily="18" charset="0"/>
                <a:cs typeface="Times New Roman" pitchFamily="18" charset="0"/>
              </a:rPr>
              <a:t>Deployment</a:t>
            </a:r>
            <a:r>
              <a:rPr>
                <a:latin typeface="Times New Roman" pitchFamily="18" charset="0"/>
                <a:cs typeface="Times New Roman" pitchFamily="18" charset="0"/>
              </a:rPr>
              <a:t>: Host on local/web server.</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5304" y="1492302"/>
            <a:ext cx="12241531" cy="3181714"/>
          </a:xfrm>
        </p:spPr>
        <p:txBody>
          <a:bodyPr/>
          <a:lstStyle/>
          <a:p>
            <a:pPr algn="ctr"/>
            <a:r>
              <a:rPr smtClean="0"/>
              <a:t/>
            </a:r>
            <a:br>
              <a:rPr smtClean="0"/>
            </a:br>
            <a:r>
              <a:rPr smtClean="0"/>
              <a:t/>
            </a:r>
            <a:br>
              <a:rPr smtClean="0"/>
            </a:br>
            <a:r>
              <a:rPr smtClean="0"/>
              <a:t/>
            </a:r>
            <a:br>
              <a:rPr smtClean="0"/>
            </a:br>
            <a:r>
              <a:rPr smtClean="0"/>
              <a:t>System </a:t>
            </a:r>
            <a:r>
              <a:t>Design &amp; Diagrams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sz="4200">
                <a:latin typeface="Times New Roman" pitchFamily="18" charset="0"/>
                <a:cs typeface="Times New Roman" pitchFamily="18" charset="0"/>
              </a:rPr>
              <a:t>Use Case </a:t>
            </a:r>
            <a:r>
              <a:rPr sz="4200" smtClean="0">
                <a:latin typeface="Times New Roman" pitchFamily="18" charset="0"/>
                <a:cs typeface="Times New Roman" pitchFamily="18" charset="0"/>
              </a:rPr>
              <a:t>Diagram</a:t>
            </a:r>
            <a:r>
              <a:rPr lang="en-US" sz="4200" dirty="0" smtClean="0">
                <a:latin typeface="Times New Roman" pitchFamily="18" charset="0"/>
                <a:cs typeface="Times New Roman" pitchFamily="18" charset="0"/>
              </a:rPr>
              <a:t/>
            </a:r>
            <a:br>
              <a:rPr lang="en-US" sz="4200" dirty="0" smtClean="0">
                <a:latin typeface="Times New Roman" pitchFamily="18" charset="0"/>
                <a:cs typeface="Times New Roman" pitchFamily="18" charset="0"/>
              </a:rPr>
            </a:br>
            <a:endParaRPr sz="4200">
              <a:latin typeface="Times New Roman" pitchFamily="18" charset="0"/>
              <a:cs typeface="Times New Roman" pitchFamily="18" charset="0"/>
            </a:endParaRPr>
          </a:p>
        </p:txBody>
      </p:sp>
      <p:sp>
        <p:nvSpPr>
          <p:cNvPr id="7" name="Content Placeholder 6"/>
          <p:cNvSpPr>
            <a:spLocks noGrp="1"/>
          </p:cNvSpPr>
          <p:nvPr>
            <p:ph idx="1"/>
          </p:nvPr>
        </p:nvSpPr>
        <p:spPr/>
        <p:txBody>
          <a:bodyPr/>
          <a:lstStyle/>
          <a:p>
            <a:r>
              <a:rPr lang="en-US" dirty="0" smtClean="0"/>
              <a:t>User               </a:t>
            </a:r>
            <a:endParaRPr lang="en-US" dirty="0"/>
          </a:p>
        </p:txBody>
      </p:sp>
      <p:pic>
        <p:nvPicPr>
          <p:cNvPr id="8" name="Content Placeholder 5" descr="C:\Users\G\Downloads\user usecase.drawio (1).png"/>
          <p:cNvPicPr>
            <a:picLocks/>
          </p:cNvPicPr>
          <p:nvPr/>
        </p:nvPicPr>
        <p:blipFill>
          <a:blip r:embed="rId2"/>
          <a:srcRect/>
          <a:stretch>
            <a:fillRect/>
          </a:stretch>
        </p:blipFill>
        <p:spPr bwMode="auto">
          <a:xfrm>
            <a:off x="5576362" y="2193925"/>
            <a:ext cx="3249076" cy="49736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0091" y="1892595"/>
            <a:ext cx="12961620" cy="5275285"/>
          </a:xfrm>
        </p:spPr>
        <p:txBody>
          <a:bodyPr>
            <a:normAutofit/>
          </a:bodyPr>
          <a:lstStyle/>
          <a:p>
            <a:r>
              <a:rPr lang="en-US" dirty="0" smtClean="0">
                <a:latin typeface="Times New Roman" pitchFamily="18" charset="0"/>
                <a:cs typeface="Times New Roman" pitchFamily="18" charset="0"/>
              </a:rPr>
              <a:t>Admin     </a:t>
            </a:r>
            <a:endParaRPr lang="en-US" dirty="0" smtClean="0">
              <a:latin typeface="Times New Roman" pitchFamily="18" charset="0"/>
              <a:cs typeface="Times New Roman" pitchFamily="18" charset="0"/>
            </a:endParaRPr>
          </a:p>
          <a:p>
            <a:endParaRPr lang="en-US" dirty="0"/>
          </a:p>
        </p:txBody>
      </p:sp>
      <p:pic>
        <p:nvPicPr>
          <p:cNvPr id="5" name="Picture 4" descr="C:\Users\G\Downloads\Admin usecase.drawio.png"/>
          <p:cNvPicPr/>
          <p:nvPr/>
        </p:nvPicPr>
        <p:blipFill>
          <a:blip r:embed="rId2"/>
          <a:srcRect/>
          <a:stretch>
            <a:fillRect/>
          </a:stretch>
        </p:blipFill>
        <p:spPr bwMode="auto">
          <a:xfrm>
            <a:off x="4959176" y="1552353"/>
            <a:ext cx="4483448" cy="5822114"/>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sz="4200">
                <a:latin typeface="Times New Roman" pitchFamily="18" charset="0"/>
                <a:cs typeface="Times New Roman" pitchFamily="18" charset="0"/>
              </a:rPr>
              <a:t>Activity </a:t>
            </a:r>
            <a:r>
              <a:rPr sz="4200" smtClean="0">
                <a:latin typeface="Times New Roman" pitchFamily="18" charset="0"/>
                <a:cs typeface="Times New Roman" pitchFamily="18" charset="0"/>
              </a:rPr>
              <a:t>Diagram</a:t>
            </a:r>
            <a:r>
              <a:rPr lang="en-US" sz="4200" dirty="0" smtClean="0">
                <a:latin typeface="Times New Roman" pitchFamily="18" charset="0"/>
                <a:cs typeface="Times New Roman" pitchFamily="18" charset="0"/>
              </a:rPr>
              <a:t/>
            </a:r>
            <a:br>
              <a:rPr lang="en-US" sz="4200" dirty="0" smtClean="0">
                <a:latin typeface="Times New Roman" pitchFamily="18" charset="0"/>
                <a:cs typeface="Times New Roman" pitchFamily="18" charset="0"/>
              </a:rPr>
            </a:br>
            <a:endParaRPr sz="4200">
              <a:latin typeface="Times New Roman" pitchFamily="18" charset="0"/>
              <a:cs typeface="Times New Roman" pitchFamily="18" charset="0"/>
            </a:endParaRPr>
          </a:p>
        </p:txBody>
      </p:sp>
      <p:sp>
        <p:nvSpPr>
          <p:cNvPr id="5" name="Content Placeholder 4"/>
          <p:cNvSpPr>
            <a:spLocks noGrp="1"/>
          </p:cNvSpPr>
          <p:nvPr>
            <p:ph idx="1"/>
          </p:nvPr>
        </p:nvSpPr>
        <p:spPr/>
        <p:txBody>
          <a:bodyPr/>
          <a:lstStyle/>
          <a:p>
            <a:r>
              <a:rPr lang="en-US" dirty="0" smtClean="0"/>
              <a:t>User Registration &amp; Login flow</a:t>
            </a:r>
          </a:p>
          <a:p>
            <a:endParaRPr lang="en-US" dirty="0"/>
          </a:p>
        </p:txBody>
      </p:sp>
      <p:pic>
        <p:nvPicPr>
          <p:cNvPr id="7" name="Picture 6" descr="C:\Users\G\Downloads\Regilogin Activity.drawio.png"/>
          <p:cNvPicPr/>
          <p:nvPr/>
        </p:nvPicPr>
        <p:blipFill>
          <a:blip r:embed="rId2"/>
          <a:srcRect/>
          <a:stretch>
            <a:fillRect/>
          </a:stretch>
        </p:blipFill>
        <p:spPr bwMode="auto">
          <a:xfrm>
            <a:off x="8969485" y="1307805"/>
            <a:ext cx="2842363" cy="618942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200" dirty="0" smtClean="0">
                <a:latin typeface="Times New Roman" pitchFamily="18" charset="0"/>
                <a:cs typeface="Times New Roman" pitchFamily="18" charset="0"/>
              </a:rPr>
              <a:t>Activity Diagram</a:t>
            </a:r>
            <a:br>
              <a:rPr lang="en-US" sz="4200" dirty="0" smtClean="0">
                <a:latin typeface="Times New Roman" pitchFamily="18" charset="0"/>
                <a:cs typeface="Times New Roman" pitchFamily="18" charset="0"/>
              </a:rPr>
            </a:br>
            <a:endParaRPr sz="420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buNone/>
            </a:pPr>
            <a:r>
              <a:rPr lang="en-US" dirty="0" smtClean="0"/>
              <a:t> Admin Inventory flow                            </a:t>
            </a:r>
            <a:endParaRPr/>
          </a:p>
        </p:txBody>
      </p:sp>
      <p:pic>
        <p:nvPicPr>
          <p:cNvPr id="5" name="Picture 4" descr="C:\Users\G\Downloads\Inventory ACtivity.drawio.png"/>
          <p:cNvPicPr/>
          <p:nvPr/>
        </p:nvPicPr>
        <p:blipFill>
          <a:blip r:embed="rId2"/>
          <a:srcRect/>
          <a:stretch>
            <a:fillRect/>
          </a:stretch>
        </p:blipFill>
        <p:spPr bwMode="auto">
          <a:xfrm>
            <a:off x="9111086" y="1254642"/>
            <a:ext cx="2580428" cy="614385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200" dirty="0" smtClean="0">
                <a:latin typeface="Times New Roman" pitchFamily="18" charset="0"/>
                <a:cs typeface="Times New Roman" pitchFamily="18" charset="0"/>
              </a:rPr>
              <a:t>Activity Diagram</a:t>
            </a:r>
            <a:br>
              <a:rPr lang="en-US" sz="4200" dirty="0" smtClean="0">
                <a:latin typeface="Times New Roman" pitchFamily="18" charset="0"/>
                <a:cs typeface="Times New Roman" pitchFamily="18" charset="0"/>
              </a:rPr>
            </a:br>
            <a:endParaRPr lang="en-US" sz="4200"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Order Fulfillment Flow        </a:t>
            </a:r>
            <a:endParaRPr lang="en-US" dirty="0">
              <a:latin typeface="Times New Roman" pitchFamily="18" charset="0"/>
              <a:cs typeface="Times New Roman" pitchFamily="18" charset="0"/>
            </a:endParaRPr>
          </a:p>
        </p:txBody>
      </p:sp>
      <p:pic>
        <p:nvPicPr>
          <p:cNvPr id="5" name="Picture 4" descr="C:\Users\G\Downloads\Order Activity.drawio.png"/>
          <p:cNvPicPr/>
          <p:nvPr/>
        </p:nvPicPr>
        <p:blipFill>
          <a:blip r:embed="rId2"/>
          <a:srcRect/>
          <a:stretch>
            <a:fillRect/>
          </a:stretch>
        </p:blipFill>
        <p:spPr bwMode="auto">
          <a:xfrm>
            <a:off x="8967086" y="1637414"/>
            <a:ext cx="3251200" cy="590215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200" dirty="0" smtClean="0">
                <a:latin typeface="Times New Roman" pitchFamily="18" charset="0"/>
                <a:cs typeface="Times New Roman" pitchFamily="18" charset="0"/>
              </a:rPr>
              <a:t>Activity Diagram</a:t>
            </a:r>
            <a:br>
              <a:rPr lang="en-US" sz="4200" dirty="0" smtClean="0">
                <a:latin typeface="Times New Roman" pitchFamily="18" charset="0"/>
                <a:cs typeface="Times New Roman" pitchFamily="18" charset="0"/>
              </a:rPr>
            </a:br>
            <a:endParaRPr lang="en-US" sz="4200" dirty="0"/>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Shopping &amp; Checkout Flow     </a:t>
            </a:r>
            <a:endParaRPr lang="en-US" dirty="0">
              <a:latin typeface="Times New Roman" pitchFamily="18" charset="0"/>
              <a:cs typeface="Times New Roman" pitchFamily="18" charset="0"/>
            </a:endParaRPr>
          </a:p>
        </p:txBody>
      </p:sp>
      <p:pic>
        <p:nvPicPr>
          <p:cNvPr id="5" name="Picture 4" descr="C:\Users\G\Downloads\checkout activity.drawio.png"/>
          <p:cNvPicPr/>
          <p:nvPr/>
        </p:nvPicPr>
        <p:blipFill>
          <a:blip r:embed="rId2"/>
          <a:srcRect/>
          <a:stretch>
            <a:fillRect/>
          </a:stretch>
        </p:blipFill>
        <p:spPr bwMode="auto">
          <a:xfrm>
            <a:off x="8727541" y="1488558"/>
            <a:ext cx="3053282" cy="592016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200" dirty="0" smtClean="0">
                <a:latin typeface="Times New Roman" pitchFamily="18" charset="0"/>
                <a:cs typeface="Times New Roman" pitchFamily="18" charset="0"/>
              </a:rPr>
              <a:t>Class Diagram</a:t>
            </a:r>
            <a:br>
              <a:rPr lang="en-US" sz="4200" dirty="0" smtClean="0">
                <a:latin typeface="Times New Roman" pitchFamily="18" charset="0"/>
                <a:cs typeface="Times New Roman" pitchFamily="18" charset="0"/>
              </a:rPr>
            </a:br>
            <a:endParaRPr sz="420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buNone/>
            </a:pPr>
            <a:r>
              <a:rPr smtClean="0"/>
              <a:t>.</a:t>
            </a:r>
            <a:endParaRPr/>
          </a:p>
        </p:txBody>
      </p:sp>
      <p:pic>
        <p:nvPicPr>
          <p:cNvPr id="6" name="Picture 5" descr="C:\Users\G\Downloads\classpharma1.drawio.png"/>
          <p:cNvPicPr/>
          <p:nvPr/>
        </p:nvPicPr>
        <p:blipFill>
          <a:blip r:embed="rId2"/>
          <a:srcRect/>
          <a:stretch>
            <a:fillRect/>
          </a:stretch>
        </p:blipFill>
        <p:spPr bwMode="auto">
          <a:xfrm>
            <a:off x="3466214" y="1711842"/>
            <a:ext cx="7166344" cy="561182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Dictionary</a:t>
            </a:r>
          </a:p>
        </p:txBody>
      </p:sp>
      <p:sp>
        <p:nvSpPr>
          <p:cNvPr id="3" name="Content Placeholder 2"/>
          <p:cNvSpPr>
            <a:spLocks noGrp="1"/>
          </p:cNvSpPr>
          <p:nvPr>
            <p:ph idx="1"/>
          </p:nvPr>
        </p:nvSpPr>
        <p:spPr/>
        <p:txBody>
          <a:bodyPr>
            <a:normAutofit/>
          </a:bodyPr>
          <a:lstStyle/>
          <a:p>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Register Model </a:t>
            </a:r>
            <a:r>
              <a:rPr lang="en-US" dirty="0" smtClean="0">
                <a:latin typeface="Times New Roman" pitchFamily="18" charset="0"/>
                <a:cs typeface="Times New Roman" pitchFamily="18" charset="0"/>
              </a:rPr>
              <a:t>:  ID, name, email , mobile , password, OTP , </a:t>
            </a:r>
            <a:r>
              <a:rPr lang="en-US" dirty="0" err="1" smtClean="0">
                <a:latin typeface="Times New Roman" pitchFamily="18" charset="0"/>
                <a:cs typeface="Times New Roman" pitchFamily="18" charset="0"/>
              </a:rPr>
              <a:t>is_verify</a:t>
            </a:r>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Category Model </a:t>
            </a:r>
            <a:r>
              <a:rPr lang="en-US" dirty="0" smtClean="0">
                <a:latin typeface="Times New Roman" pitchFamily="18" charset="0"/>
                <a:cs typeface="Times New Roman" pitchFamily="18" charset="0"/>
              </a:rPr>
              <a:t>: ID , name</a:t>
            </a:r>
          </a:p>
          <a:p>
            <a:r>
              <a:rPr lang="en-US" dirty="0" smtClean="0">
                <a:latin typeface="Times New Roman" pitchFamily="18" charset="0"/>
                <a:cs typeface="Times New Roman" pitchFamily="18" charset="0"/>
              </a:rPr>
              <a:t> </a:t>
            </a:r>
            <a:r>
              <a:rPr b="1" smtClean="0">
                <a:latin typeface="Times New Roman" pitchFamily="18" charset="0"/>
                <a:cs typeface="Times New Roman" pitchFamily="18" charset="0"/>
              </a:rPr>
              <a:t>ProductModel</a:t>
            </a:r>
            <a:r>
              <a:rPr>
                <a:latin typeface="Times New Roman" pitchFamily="18" charset="0"/>
                <a:cs typeface="Times New Roman" pitchFamily="18" charset="0"/>
              </a:rPr>
              <a:t>: ID, name</a:t>
            </a:r>
            <a:r>
              <a:rPr smtClean="0">
                <a:latin typeface="Times New Roman" pitchFamily="18" charset="0"/>
                <a:cs typeface="Times New Roman" pitchFamily="18" charset="0"/>
              </a:rPr>
              <a:t>,</a:t>
            </a:r>
            <a:r>
              <a:rPr lang="en-US" dirty="0" smtClean="0">
                <a:latin typeface="Times New Roman" pitchFamily="18" charset="0"/>
                <a:cs typeface="Times New Roman" pitchFamily="18" charset="0"/>
              </a:rPr>
              <a:t> image,</a:t>
            </a:r>
            <a:r>
              <a:rPr smtClean="0">
                <a:latin typeface="Times New Roman" pitchFamily="18" charset="0"/>
                <a:cs typeface="Times New Roman" pitchFamily="18" charset="0"/>
              </a:rPr>
              <a:t> </a:t>
            </a:r>
            <a:r>
              <a:rPr>
                <a:latin typeface="Times New Roman" pitchFamily="18" charset="0"/>
                <a:cs typeface="Times New Roman" pitchFamily="18" charset="0"/>
              </a:rPr>
              <a:t>price, stock, </a:t>
            </a:r>
            <a:r>
              <a:rPr smtClean="0">
                <a:latin typeface="Times New Roman" pitchFamily="18" charset="0"/>
                <a:cs typeface="Times New Roman" pitchFamily="18" charset="0"/>
              </a:rPr>
              <a:t>expiry_date</a:t>
            </a: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manufacture_date</a:t>
            </a: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categories_id</a:t>
            </a:r>
            <a:endParaRPr>
              <a:latin typeface="Times New Roman" pitchFamily="18" charset="0"/>
              <a:cs typeface="Times New Roman" pitchFamily="18" charset="0"/>
            </a:endParaRPr>
          </a:p>
          <a:p>
            <a:r>
              <a:rPr lang="en-US" dirty="0" smtClean="0">
                <a:latin typeface="Times New Roman" pitchFamily="18" charset="0"/>
                <a:cs typeface="Times New Roman" pitchFamily="18" charset="0"/>
              </a:rPr>
              <a:t> </a:t>
            </a:r>
            <a:r>
              <a:rPr b="1" smtClean="0">
                <a:latin typeface="Times New Roman" pitchFamily="18" charset="0"/>
                <a:cs typeface="Times New Roman" pitchFamily="18" charset="0"/>
              </a:rPr>
              <a:t>SupplierModel</a:t>
            </a:r>
            <a:r>
              <a:rPr>
                <a:latin typeface="Times New Roman" pitchFamily="18" charset="0"/>
                <a:cs typeface="Times New Roman" pitchFamily="18" charset="0"/>
              </a:rPr>
              <a:t>: ID, name, contact, </a:t>
            </a:r>
            <a:r>
              <a:rPr smtClean="0">
                <a:latin typeface="Times New Roman" pitchFamily="18" charset="0"/>
                <a:cs typeface="Times New Roman" pitchFamily="18" charset="0"/>
              </a:rPr>
              <a:t>address</a:t>
            </a:r>
            <a:r>
              <a:rPr lang="en-US" dirty="0" smtClean="0">
                <a:latin typeface="Times New Roman" pitchFamily="18" charset="0"/>
                <a:cs typeface="Times New Roman" pitchFamily="18" charset="0"/>
              </a:rPr>
              <a:t> , mobile</a:t>
            </a:r>
            <a:endParaRPr>
              <a:latin typeface="Times New Roman" pitchFamily="18" charset="0"/>
              <a:cs typeface="Times New Roman" pitchFamily="18" charset="0"/>
            </a:endParaRPr>
          </a:p>
          <a:p>
            <a:r>
              <a:rPr lang="en-US" dirty="0" smtClean="0">
                <a:latin typeface="Times New Roman" pitchFamily="18" charset="0"/>
                <a:cs typeface="Times New Roman" pitchFamily="18" charset="0"/>
              </a:rPr>
              <a:t> </a:t>
            </a:r>
            <a:r>
              <a:rPr b="1" smtClean="0">
                <a:latin typeface="Times New Roman" pitchFamily="18" charset="0"/>
                <a:cs typeface="Times New Roman" pitchFamily="18" charset="0"/>
              </a:rPr>
              <a:t>OrderModel</a:t>
            </a:r>
            <a:r>
              <a:rPr>
                <a:latin typeface="Times New Roman" pitchFamily="18" charset="0"/>
                <a:cs typeface="Times New Roman" pitchFamily="18" charset="0"/>
              </a:rPr>
              <a:t>: ID, total_price, status, </a:t>
            </a:r>
            <a:r>
              <a:rPr smtClean="0">
                <a:latin typeface="Times New Roman" pitchFamily="18" charset="0"/>
                <a:cs typeface="Times New Roman" pitchFamily="18" charset="0"/>
              </a:rPr>
              <a:t>payment_status</a:t>
            </a: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user_id</a:t>
            </a:r>
            <a:r>
              <a:rPr lang="en-US" dirty="0" smtClean="0">
                <a:latin typeface="Times New Roman" pitchFamily="18" charset="0"/>
                <a:cs typeface="Times New Roman" pitchFamily="18" charset="0"/>
              </a:rPr>
              <a:t> .</a:t>
            </a:r>
          </a:p>
          <a:p>
            <a:r>
              <a:rPr lang="en-US" b="1" dirty="0" err="1" smtClean="0">
                <a:latin typeface="Times New Roman" pitchFamily="18" charset="0"/>
                <a:cs typeface="Times New Roman" pitchFamily="18" charset="0"/>
              </a:rPr>
              <a:t>CartModel</a:t>
            </a:r>
            <a:r>
              <a:rPr lang="en-US" b="1" dirty="0" smtClean="0">
                <a:latin typeface="Times New Roman" pitchFamily="18" charset="0"/>
                <a:cs typeface="Times New Roman" pitchFamily="18" charset="0"/>
              </a:rPr>
              <a:t> : </a:t>
            </a:r>
            <a:r>
              <a:rPr lang="en-US" dirty="0" smtClean="0">
                <a:latin typeface="Times New Roman" pitchFamily="18" charset="0"/>
                <a:cs typeface="Times New Roman" pitchFamily="18" charset="0"/>
              </a:rPr>
              <a:t>ID, </a:t>
            </a:r>
            <a:r>
              <a:rPr lang="en-US" dirty="0" err="1" smtClean="0">
                <a:latin typeface="Times New Roman" pitchFamily="18" charset="0"/>
                <a:cs typeface="Times New Roman" pitchFamily="18" charset="0"/>
              </a:rPr>
              <a:t>user_id</a:t>
            </a:r>
            <a:r>
              <a:rPr lang="en-US" dirty="0" smtClean="0">
                <a:latin typeface="Times New Roman" pitchFamily="18" charset="0"/>
                <a:cs typeface="Times New Roman" pitchFamily="18" charset="0"/>
              </a:rPr>
              <a:t> , qty , </a:t>
            </a:r>
            <a:r>
              <a:rPr lang="en-US" dirty="0" err="1" smtClean="0">
                <a:latin typeface="Times New Roman" pitchFamily="18" charset="0"/>
                <a:cs typeface="Times New Roman" pitchFamily="18" charset="0"/>
              </a:rPr>
              <a:t>total_price</a:t>
            </a: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order_id</a:t>
            </a: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product_id</a:t>
            </a:r>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Order Item Model : </a:t>
            </a:r>
            <a:r>
              <a:rPr lang="en-US" dirty="0" smtClean="0">
                <a:latin typeface="Times New Roman" pitchFamily="18" charset="0"/>
                <a:cs typeface="Times New Roman" pitchFamily="18" charset="0"/>
              </a:rPr>
              <a:t>ID </a:t>
            </a:r>
            <a:r>
              <a:rPr lang="en-US" dirty="0" err="1" smtClean="0">
                <a:latin typeface="Times New Roman" pitchFamily="18" charset="0"/>
                <a:cs typeface="Times New Roman" pitchFamily="18" charset="0"/>
              </a:rPr>
              <a:t>Order_id</a:t>
            </a: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Product_id</a:t>
            </a:r>
            <a:r>
              <a:rPr lang="en-US" dirty="0" smtClean="0">
                <a:latin typeface="Times New Roman" pitchFamily="18" charset="0"/>
                <a:cs typeface="Times New Roman" pitchFamily="18" charset="0"/>
              </a:rPr>
              <a:t> , qty , price</a:t>
            </a:r>
            <a:endParaRPr>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altLang="en-GB" sz="4200" dirty="0" smtClean="0">
                <a:latin typeface="Times New Roman" panose="02020603050405020304" pitchFamily="18" charset="0"/>
                <a:cs typeface="Times New Roman" panose="02020603050405020304" pitchFamily="18" charset="0"/>
              </a:rPr>
              <a:t>Application Running steps</a:t>
            </a:r>
            <a:br>
              <a:rPr lang="en-US" altLang="en-GB" sz="4200" dirty="0" smtClean="0">
                <a:latin typeface="Times New Roman" panose="02020603050405020304" pitchFamily="18" charset="0"/>
                <a:cs typeface="Times New Roman" panose="02020603050405020304" pitchFamily="18" charset="0"/>
              </a:rPr>
            </a:br>
            <a:endParaRPr lang="en-US" sz="4200" dirty="0"/>
          </a:p>
        </p:txBody>
      </p:sp>
      <p:sp>
        <p:nvSpPr>
          <p:cNvPr id="3" name="Content Placeholder 2"/>
          <p:cNvSpPr>
            <a:spLocks noGrp="1"/>
          </p:cNvSpPr>
          <p:nvPr>
            <p:ph idx="1"/>
          </p:nvPr>
        </p:nvSpPr>
        <p:spPr/>
        <p:txBody>
          <a:bodyPr/>
          <a:lstStyle/>
          <a:p>
            <a:r>
              <a:rPr lang="en-IN" dirty="0" smtClean="0">
                <a:latin typeface="Times New Roman" pitchFamily="18" charset="0"/>
                <a:cs typeface="Times New Roman" pitchFamily="18" charset="0"/>
              </a:rPr>
              <a:t>Login/Signup Page:</a:t>
            </a:r>
          </a:p>
          <a:p>
            <a:endParaRPr lang="en-IN"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pic>
        <p:nvPicPr>
          <p:cNvPr id="4" name="Picture 3"/>
          <p:cNvPicPr/>
          <p:nvPr/>
        </p:nvPicPr>
        <p:blipFill>
          <a:blip r:embed="rId2" cstate="print"/>
          <a:srcRect/>
          <a:stretch>
            <a:fillRect/>
          </a:stretch>
        </p:blipFill>
        <p:spPr bwMode="auto">
          <a:xfrm>
            <a:off x="1828076" y="2934586"/>
            <a:ext cx="4015013" cy="4233294"/>
          </a:xfrm>
          <a:prstGeom prst="rect">
            <a:avLst/>
          </a:prstGeom>
          <a:noFill/>
          <a:ln w="9525">
            <a:noFill/>
            <a:miter lim="800000"/>
            <a:headEnd/>
            <a:tailEnd/>
          </a:ln>
        </p:spPr>
      </p:pic>
      <p:pic>
        <p:nvPicPr>
          <p:cNvPr id="5" name="Picture 4"/>
          <p:cNvPicPr/>
          <p:nvPr/>
        </p:nvPicPr>
        <p:blipFill>
          <a:blip r:embed="rId3" cstate="print"/>
          <a:srcRect/>
          <a:stretch>
            <a:fillRect/>
          </a:stretch>
        </p:blipFill>
        <p:spPr bwMode="auto">
          <a:xfrm>
            <a:off x="7856917" y="2934586"/>
            <a:ext cx="4066600" cy="42332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smtClean="0">
                <a:latin typeface="Times New Roman" pitchFamily="18" charset="0"/>
                <a:cs typeface="Times New Roman" pitchFamily="18" charset="0"/>
              </a:rPr>
              <a:t>Home Page &amp;  Categories Page</a:t>
            </a:r>
          </a:p>
          <a:p>
            <a:endParaRPr lang="en-US" dirty="0">
              <a:latin typeface="Times New Roman" pitchFamily="18" charset="0"/>
              <a:cs typeface="Times New Roman" pitchFamily="18" charset="0"/>
            </a:endParaRPr>
          </a:p>
        </p:txBody>
      </p:sp>
      <p:pic>
        <p:nvPicPr>
          <p:cNvPr id="4" name="Picture 3"/>
          <p:cNvPicPr/>
          <p:nvPr/>
        </p:nvPicPr>
        <p:blipFill>
          <a:blip r:embed="rId2"/>
          <a:srcRect/>
          <a:stretch>
            <a:fillRect/>
          </a:stretch>
        </p:blipFill>
        <p:spPr bwMode="auto">
          <a:xfrm>
            <a:off x="329610" y="2887771"/>
            <a:ext cx="6768426" cy="4108451"/>
          </a:xfrm>
          <a:prstGeom prst="rect">
            <a:avLst/>
          </a:prstGeom>
          <a:noFill/>
          <a:ln w="9525">
            <a:noFill/>
            <a:miter lim="800000"/>
            <a:headEnd/>
            <a:tailEnd/>
          </a:ln>
        </p:spPr>
      </p:pic>
      <p:pic>
        <p:nvPicPr>
          <p:cNvPr id="5" name="Picture 4"/>
          <p:cNvPicPr/>
          <p:nvPr/>
        </p:nvPicPr>
        <p:blipFill>
          <a:blip r:embed="rId3"/>
          <a:srcRect/>
          <a:stretch>
            <a:fillRect/>
          </a:stretch>
        </p:blipFill>
        <p:spPr bwMode="auto">
          <a:xfrm>
            <a:off x="7421337" y="3214708"/>
            <a:ext cx="6583681" cy="359012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smtClean="0">
                <a:latin typeface="Times New Roman" pitchFamily="18" charset="0"/>
                <a:cs typeface="Times New Roman" pitchFamily="18" charset="0"/>
              </a:rPr>
              <a:t>Admin Dashboard:</a:t>
            </a:r>
          </a:p>
          <a:p>
            <a:endParaRPr lang="en-US" dirty="0">
              <a:latin typeface="Times New Roman" pitchFamily="18" charset="0"/>
              <a:cs typeface="Times New Roman" pitchFamily="18" charset="0"/>
            </a:endParaRPr>
          </a:p>
        </p:txBody>
      </p:sp>
      <p:pic>
        <p:nvPicPr>
          <p:cNvPr id="4" name="Picture 3"/>
          <p:cNvPicPr/>
          <p:nvPr/>
        </p:nvPicPr>
        <p:blipFill>
          <a:blip r:embed="rId2"/>
          <a:srcRect/>
          <a:stretch>
            <a:fillRect/>
          </a:stretch>
        </p:blipFill>
        <p:spPr bwMode="auto">
          <a:xfrm>
            <a:off x="2520315" y="2934587"/>
            <a:ext cx="9361171" cy="44337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a:lstStyle/>
          <a:p>
            <a:r>
              <a:t>Questions?</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96</TotalTime>
  <Words>812</Words>
  <Application>Microsoft Macintosh PowerPoint</Application>
  <PresentationFormat>Custom</PresentationFormat>
  <Paragraphs>98</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Flow</vt:lpstr>
      <vt:lpstr>PHARMACY MANAGEMENT SYSTEM</vt:lpstr>
      <vt:lpstr>Introduction</vt:lpstr>
      <vt:lpstr>Purpose</vt:lpstr>
      <vt:lpstr>Existing System </vt:lpstr>
      <vt:lpstr>New System</vt:lpstr>
      <vt:lpstr>Project Scope </vt:lpstr>
      <vt:lpstr>Problem Statement </vt:lpstr>
      <vt:lpstr>Key Functions </vt:lpstr>
      <vt:lpstr>Advantages </vt:lpstr>
      <vt:lpstr>Hardware Requirements </vt:lpstr>
      <vt:lpstr>Software Requirements </vt:lpstr>
      <vt:lpstr>Requirements for Users </vt:lpstr>
      <vt:lpstr>Process Model (MVT) </vt:lpstr>
      <vt:lpstr>   System Design &amp; Diagrams</vt:lpstr>
      <vt:lpstr>Use Case Diagram </vt:lpstr>
      <vt:lpstr>Slide 16</vt:lpstr>
      <vt:lpstr>Activity Diagram </vt:lpstr>
      <vt:lpstr>Activity Diagram </vt:lpstr>
      <vt:lpstr>Activity Diagram </vt:lpstr>
      <vt:lpstr>Activity Diagram </vt:lpstr>
      <vt:lpstr>Class Diagram </vt:lpstr>
      <vt:lpstr>Data Dictionary</vt:lpstr>
      <vt:lpstr>Application Running steps </vt:lpstr>
      <vt:lpstr>Slide 24</vt:lpstr>
      <vt:lpstr>Slide 25</vt:lpstr>
      <vt:lpstr>THANK YOU</vt:lpstr>
    </vt:vector>
  </TitlesOfParts>
  <Manager/>
  <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PHARMACY MANAGEMENT SYSTEM</dc:title>
  <dc:subject/>
  <dc:creator/>
  <cp:keywords/>
  <dc:description>generated using python-pptx</dc:description>
  <cp:lastModifiedBy>G</cp:lastModifiedBy>
  <cp:revision>16</cp:revision>
  <dcterms:created xsi:type="dcterms:W3CDTF">2013-01-27T09:14:16Z</dcterms:created>
  <dcterms:modified xsi:type="dcterms:W3CDTF">2026-04-21T12:41:14Z</dcterms:modified>
  <cp:category/>
</cp:coreProperties>
</file>