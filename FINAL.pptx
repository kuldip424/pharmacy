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79" r:id="rId3"/>
    <p:sldId id="283" r:id="rId4"/>
    <p:sldId id="284" r:id="rId5"/>
    <p:sldId id="285" r:id="rId6"/>
    <p:sldId id="286" r:id="rId7"/>
    <p:sldId id="287" r:id="rId8"/>
    <p:sldId id="288" r:id="rId9"/>
    <p:sldId id="297" r:id="rId10"/>
    <p:sldId id="298" r:id="rId11"/>
    <p:sldId id="299" r:id="rId12"/>
    <p:sldId id="300" r:id="rId13"/>
    <p:sldId id="301" r:id="rId14"/>
    <p:sldId id="263" r:id="rId15"/>
    <p:sldId id="302" r:id="rId16"/>
    <p:sldId id="274" r:id="rId17"/>
    <p:sldId id="275" r:id="rId18"/>
    <p:sldId id="303" r:id="rId19"/>
    <p:sldId id="304" r:id="rId20"/>
    <p:sldId id="305" r:id="rId21"/>
    <p:sldId id="276" r:id="rId22"/>
    <p:sldId id="278" r:id="rId23"/>
    <p:sldId id="307" r:id="rId24"/>
    <p:sldId id="310" r:id="rId25"/>
    <p:sldId id="311" r:id="rId26"/>
    <p:sldId id="31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CF8EFA-92C9-4AEE-BB3E-8962844F0A25}" v="2" dt="2025-12-13T05:10:03.6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289FA6-8FC2-4E6D-B206-094C9DCEBC43}"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289FA6-8FC2-4E6D-B206-094C9DCEBC43}"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289FA6-8FC2-4E6D-B206-094C9DCEBC43}"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289FA6-8FC2-4E6D-B206-094C9DCEBC43}"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289FA6-8FC2-4E6D-B206-094C9DCEBC43}"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CC030B-3533-4A34-BE13-883F37B61928}" type="slidenum">
              <a:rPr lang="en-US" smtClean="0"/>
              <a:t>‹#›</a:t>
            </a:fld>
            <a:endParaRPr lang="en-US"/>
          </a:p>
        </p:txBody>
      </p:sp>
      <p:sp>
        <p:nvSpPr>
          <p:cNvPr id="5" name="Date Placeholder 4"/>
          <p:cNvSpPr>
            <a:spLocks noGrp="1"/>
          </p:cNvSpPr>
          <p:nvPr>
            <p:ph type="dt" sz="half" idx="10"/>
          </p:nvPr>
        </p:nvSpPr>
        <p:spPr/>
        <p:txBody>
          <a:bodyPr/>
          <a:lstStyle/>
          <a:p>
            <a:fld id="{7F289FA6-8FC2-4E6D-B206-094C9DCEBC43}" type="datetimeFigureOut">
              <a:rPr lang="en-US" smtClean="0"/>
              <a:t>12/13/2025</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289FA6-8FC2-4E6D-B206-094C9DCEBC4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CC030B-3533-4A34-BE13-883F37B6192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289FA6-8FC2-4E6D-B206-094C9DCEBC43}" type="datetimeFigureOut">
              <a:rPr lang="en-US" smtClean="0"/>
              <a:t>12/13/2025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8CC030B-3533-4A34-BE13-883F37B6192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22956" y="2505670"/>
            <a:ext cx="4716356"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TRADE BUDDY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175895"/>
            <a:ext cx="8596630" cy="713740"/>
          </a:xfrm>
        </p:spPr>
        <p:txBody>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462013" y="1405289"/>
            <a:ext cx="8811989" cy="4636074"/>
          </a:xfrm>
        </p:spPr>
        <p:txBody>
          <a:bodyPr>
            <a:normAutofit/>
          </a:bodyPr>
          <a:lstStyle/>
          <a:p>
            <a:r>
              <a:rPr lang="en-US" altLang="en-GB" dirty="0">
                <a:latin typeface="Times New Roman" panose="02020603050405020304" pitchFamily="18" charset="0"/>
                <a:cs typeface="Times New Roman" panose="02020603050405020304" pitchFamily="18" charset="0"/>
              </a:rPr>
              <a:t>TradeBuddy is an Android app designed to help users easily track stocks, view real-time charts, and read market news. It provides a simple and secure platform using Firebase for login and Firestore for storing user data. With features like a watchlist, live charts, and a clean user interface, the app makes stock monitoring fast, convenient, and user-friendly.</a:t>
            </a:r>
          </a:p>
          <a:p>
            <a:endParaRPr lang="en-IN" dirty="0">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nvPicPr>
        <p:blipFill>
          <a:blip r:embed="rId2"/>
          <a:stretch>
            <a:fillRect/>
          </a:stretch>
        </p:blipFill>
        <p:spPr>
          <a:xfrm>
            <a:off x="2374287" y="2736215"/>
            <a:ext cx="5822155" cy="38814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7244" y="513080"/>
            <a:ext cx="8596668" cy="1320800"/>
          </a:xfrm>
        </p:spPr>
        <p:txBody>
          <a:bodyPr/>
          <a:lstStyle/>
          <a:p>
            <a:pPr algn="ctr"/>
            <a:r>
              <a:rPr lang="en-IN" b="1" dirty="0">
                <a:latin typeface="Times New Roman" panose="02020603050405020304" pitchFamily="18" charset="0"/>
                <a:cs typeface="Times New Roman" panose="02020603050405020304" pitchFamily="18" charset="0"/>
              </a:rPr>
              <a:t>Purpose</a:t>
            </a:r>
          </a:p>
        </p:txBody>
      </p:sp>
      <p:sp>
        <p:nvSpPr>
          <p:cNvPr id="3" name="Content Placeholder 2"/>
          <p:cNvSpPr>
            <a:spLocks noGrp="1"/>
          </p:cNvSpPr>
          <p:nvPr>
            <p:ph idx="1"/>
          </p:nvPr>
        </p:nvSpPr>
        <p:spPr>
          <a:xfrm>
            <a:off x="455295" y="2915920"/>
            <a:ext cx="9050020" cy="1719580"/>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 The purpose of the </a:t>
            </a:r>
            <a:r>
              <a:rPr lang="en-IN" dirty="0" err="1">
                <a:latin typeface="Times New Roman" panose="02020603050405020304" pitchFamily="18" charset="0"/>
                <a:cs typeface="Times New Roman" panose="02020603050405020304" pitchFamily="18" charset="0"/>
              </a:rPr>
              <a:t>TradeBuddy</a:t>
            </a:r>
            <a:r>
              <a:rPr lang="en-IN" dirty="0">
                <a:latin typeface="Times New Roman" panose="02020603050405020304" pitchFamily="18" charset="0"/>
                <a:cs typeface="Times New Roman" panose="02020603050405020304" pitchFamily="18" charset="0"/>
              </a:rPr>
              <a:t> system is to provide users with a simple, reliable, and interactive platform for tracking stock market information. The system is designed to help both beginners and regular traders make informed decisions by offering essential trading tools in one place. </a:t>
            </a:r>
            <a:r>
              <a:rPr lang="en-IN" dirty="0" err="1">
                <a:latin typeface="Times New Roman" panose="02020603050405020304" pitchFamily="18" charset="0"/>
                <a:cs typeface="Times New Roman" panose="02020603050405020304" pitchFamily="18" charset="0"/>
              </a:rPr>
              <a:t>TradeBuddy</a:t>
            </a:r>
            <a:r>
              <a:rPr lang="en-IN" dirty="0">
                <a:latin typeface="Times New Roman" panose="02020603050405020304" pitchFamily="18" charset="0"/>
                <a:cs typeface="Times New Roman" panose="02020603050405020304" pitchFamily="18" charset="0"/>
              </a:rPr>
              <a:t> simplifies market monitoring by combining live stock charts, personalized watchlists, and the latest financial news into an easy-to-use Android application.</a:t>
            </a:r>
          </a:p>
          <a:p>
            <a:pPr algn="just"/>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 Existing System &amp; New system</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545" y="2160905"/>
            <a:ext cx="9656445" cy="3880485"/>
          </a:xfrm>
        </p:spPr>
        <p:txBody>
          <a:bodyPr/>
          <a:lstStyle/>
          <a:p>
            <a:pPr algn="just"/>
            <a:r>
              <a:rPr lang="en-US" altLang="en-GB" dirty="0">
                <a:latin typeface="Times New Roman" panose="02020603050405020304" pitchFamily="18" charset="0"/>
                <a:cs typeface="Times New Roman" panose="02020603050405020304" pitchFamily="18" charset="0"/>
              </a:rPr>
              <a:t>In the existing system, users rely on multiple apps and websites to check stock prices, view charts, read news, and manage watchlists. Switching between different platforms is inconvenient and makes trading information harder to access in one place.</a:t>
            </a:r>
          </a:p>
          <a:p>
            <a:pPr algn="just"/>
            <a:endParaRPr lang="en-US" altLang="en-GB" dirty="0">
              <a:latin typeface="Times New Roman" panose="02020603050405020304" pitchFamily="18" charset="0"/>
              <a:cs typeface="Times New Roman" panose="02020603050405020304" pitchFamily="18" charset="0"/>
            </a:endParaRPr>
          </a:p>
          <a:p>
            <a:pPr algn="just"/>
            <a:r>
              <a:rPr lang="en-US" altLang="en-GB" dirty="0">
                <a:latin typeface="Times New Roman" panose="02020603050405020304" pitchFamily="18" charset="0"/>
                <a:cs typeface="Times New Roman" panose="02020603050405020304" pitchFamily="18" charset="0"/>
              </a:rPr>
              <a:t>The new system, TradeBuddy, provides all trading tools—live charts, watchlists, and market news—in one easy-to-use Android app. It gives users real-time, accurate information on a single platform, making stock tracking faster and more convenient.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SCOPE</a:t>
            </a:r>
          </a:p>
        </p:txBody>
      </p:sp>
      <p:sp>
        <p:nvSpPr>
          <p:cNvPr id="3" name="Content Placeholder 2"/>
          <p:cNvSpPr>
            <a:spLocks noGrp="1"/>
          </p:cNvSpPr>
          <p:nvPr>
            <p:ph idx="1"/>
          </p:nvPr>
        </p:nvSpPr>
        <p:spPr>
          <a:xfrm>
            <a:off x="677545" y="2160905"/>
            <a:ext cx="9551670" cy="3880485"/>
          </a:xfrm>
        </p:spPr>
        <p:txBody>
          <a:bodyPr>
            <a:normAutofit/>
          </a:bodyPr>
          <a:lstStyle/>
          <a:p>
            <a:pPr algn="just"/>
            <a:r>
              <a:rPr lang="en-US" altLang="en-GB" dirty="0">
                <a:latin typeface="Times New Roman" panose="02020603050405020304" pitchFamily="18" charset="0"/>
                <a:cs typeface="Times New Roman" panose="02020603050405020304" pitchFamily="18" charset="0"/>
              </a:rPr>
              <a:t>The scope of the TradeBuddy app is to provide users with an easy Android platform to track stock market trends. It includes secure login, personalized watchlists, real-time TradingView charts, and the latest financial news. The app focuses on delivering market information and visualization, without supporting live trading or financial transactions.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791" y="263090"/>
            <a:ext cx="8596668" cy="1320800"/>
          </a:xfrm>
        </p:spPr>
        <p:txBody>
          <a:bodyPr/>
          <a:lstStyle/>
          <a:p>
            <a:pPr algn="ctr"/>
            <a:r>
              <a:rPr lang="en-IN" b="1" dirty="0">
                <a:latin typeface="Times New Roman" panose="02020603050405020304" pitchFamily="18" charset="0"/>
                <a:cs typeface="Times New Roman" panose="02020603050405020304" pitchFamily="18" charset="0"/>
              </a:rPr>
              <a:t> Key Function</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1263" y="1126156"/>
            <a:ext cx="8792739" cy="5601903"/>
          </a:xfrm>
        </p:spPr>
        <p:txBody>
          <a:bodyPr>
            <a:normAutofit/>
          </a:bodyPr>
          <a:lstStyle/>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Secure Login </a:t>
            </a:r>
            <a:r>
              <a:rPr lang="en-IN" dirty="0">
                <a:latin typeface="Times New Roman" panose="02020603050405020304" pitchFamily="18" charset="0"/>
                <a:cs typeface="Times New Roman" panose="02020603050405020304" pitchFamily="18" charset="0"/>
              </a:rPr>
              <a:t>– Users can safely sign in using Firebase Authentication.</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Personalized Watchlist </a:t>
            </a:r>
            <a:r>
              <a:rPr lang="en-IN" dirty="0">
                <a:latin typeface="Times New Roman" panose="02020603050405020304" pitchFamily="18" charset="0"/>
                <a:cs typeface="Times New Roman" panose="02020603050405020304" pitchFamily="18" charset="0"/>
              </a:rPr>
              <a:t>– Add and manage </a:t>
            </a:r>
            <a:r>
              <a:rPr lang="en-IN" dirty="0" err="1">
                <a:latin typeface="Times New Roman" panose="02020603050405020304" pitchFamily="18" charset="0"/>
                <a:cs typeface="Times New Roman" panose="02020603050405020304" pitchFamily="18" charset="0"/>
              </a:rPr>
              <a:t>favorite</a:t>
            </a:r>
            <a:r>
              <a:rPr lang="en-IN" dirty="0">
                <a:latin typeface="Times New Roman" panose="02020603050405020304" pitchFamily="18" charset="0"/>
                <a:cs typeface="Times New Roman" panose="02020603050405020304" pitchFamily="18" charset="0"/>
              </a:rPr>
              <a:t> stocks easily.</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Real-Time Charts </a:t>
            </a:r>
            <a:r>
              <a:rPr lang="en-IN" dirty="0">
                <a:latin typeface="Times New Roman" panose="02020603050405020304" pitchFamily="18" charset="0"/>
                <a:cs typeface="Times New Roman" panose="02020603050405020304" pitchFamily="18" charset="0"/>
              </a:rPr>
              <a:t>– View live and interactive </a:t>
            </a:r>
            <a:r>
              <a:rPr lang="en-IN" dirty="0" err="1">
                <a:latin typeface="Times New Roman" panose="02020603050405020304" pitchFamily="18" charset="0"/>
                <a:cs typeface="Times New Roman" panose="02020603050405020304" pitchFamily="18" charset="0"/>
              </a:rPr>
              <a:t>TradingView</a:t>
            </a:r>
            <a:r>
              <a:rPr lang="en-IN" dirty="0">
                <a:latin typeface="Times New Roman" panose="02020603050405020304" pitchFamily="18" charset="0"/>
                <a:cs typeface="Times New Roman" panose="02020603050405020304" pitchFamily="18" charset="0"/>
              </a:rPr>
              <a:t> stock charts.</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Market News </a:t>
            </a:r>
            <a:r>
              <a:rPr lang="en-IN" dirty="0">
                <a:latin typeface="Times New Roman" panose="02020603050405020304" pitchFamily="18" charset="0"/>
                <a:cs typeface="Times New Roman" panose="02020603050405020304" pitchFamily="18" charset="0"/>
              </a:rPr>
              <a:t>– Get the latest financial and stock market updates.</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Cloud Storage </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Firestore</a:t>
            </a:r>
            <a:r>
              <a:rPr lang="en-IN" dirty="0">
                <a:latin typeface="Times New Roman" panose="02020603050405020304" pitchFamily="18" charset="0"/>
                <a:cs typeface="Times New Roman" panose="02020603050405020304" pitchFamily="18" charset="0"/>
              </a:rPr>
              <a:t> securely stores user data and preferences. </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User-Friendly UI </a:t>
            </a:r>
            <a:r>
              <a:rPr lang="en-IN" dirty="0">
                <a:latin typeface="Times New Roman" panose="02020603050405020304" pitchFamily="18" charset="0"/>
                <a:cs typeface="Times New Roman" panose="02020603050405020304" pitchFamily="18" charset="0"/>
              </a:rPr>
              <a:t>– Simple, clean interface with smooth navigation.</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Dark/Light Mode </a:t>
            </a:r>
            <a:r>
              <a:rPr lang="en-IN" dirty="0">
                <a:latin typeface="Times New Roman" panose="02020603050405020304" pitchFamily="18" charset="0"/>
                <a:cs typeface="Times New Roman" panose="02020603050405020304" pitchFamily="18" charset="0"/>
              </a:rPr>
              <a:t>– Switch themes for better viewing comfort.</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MVVM Architecture </a:t>
            </a:r>
            <a:r>
              <a:rPr lang="en-IN" dirty="0">
                <a:latin typeface="Times New Roman" panose="02020603050405020304" pitchFamily="18" charset="0"/>
                <a:cs typeface="Times New Roman" panose="02020603050405020304" pitchFamily="18" charset="0"/>
              </a:rPr>
              <a:t>– Ensures organized code and efficient performance.</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Explore Stocks </a:t>
            </a:r>
            <a:r>
              <a:rPr lang="en-IN" dirty="0">
                <a:latin typeface="Times New Roman" panose="02020603050405020304" pitchFamily="18" charset="0"/>
                <a:cs typeface="Times New Roman" panose="02020603050405020304" pitchFamily="18" charset="0"/>
              </a:rPr>
              <a:t>– Discover trending stocks and market categories.</a:t>
            </a:r>
          </a:p>
          <a:p>
            <a:pPr>
              <a:buFont typeface="Wingdings" panose="05000000000000000000" charset="0"/>
              <a:buChar char="ü"/>
            </a:pPr>
            <a:r>
              <a:rPr lang="en-IN" b="1" dirty="0">
                <a:latin typeface="Times New Roman" panose="02020603050405020304" pitchFamily="18" charset="0"/>
                <a:cs typeface="Times New Roman" panose="02020603050405020304" pitchFamily="18" charset="0"/>
              </a:rPr>
              <a:t>Profile Section </a:t>
            </a:r>
            <a:r>
              <a:rPr lang="en-IN" dirty="0">
                <a:latin typeface="Times New Roman" panose="02020603050405020304" pitchFamily="18" charset="0"/>
                <a:cs typeface="Times New Roman" panose="02020603050405020304" pitchFamily="18" charset="0"/>
              </a:rPr>
              <a:t>– Manage user details and app settings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 Problem Statement</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altLang="en-GB" dirty="0">
                <a:latin typeface="Times New Roman" panose="02020603050405020304" pitchFamily="18" charset="0"/>
                <a:cs typeface="Times New Roman" panose="02020603050405020304" pitchFamily="18" charset="0"/>
              </a:rPr>
              <a:t>Users face difficulty tracking stock market information because charts, news, and watchlist tools are spread across multiple platforms. Existing apps are often complex, not personalized, and lack smooth real-time updates. Therefore, a simple, unified, and secure mobile application is needed to help users easily monitor market trends and access essential trading insights in one place.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idx="1"/>
          </p:nvPr>
        </p:nvSpPr>
        <p:spPr/>
        <p:txBody>
          <a:bodyPr/>
          <a:lstStyle/>
          <a:p>
            <a:pPr marL="0" indent="0">
              <a:buNone/>
            </a:pPr>
            <a:r>
              <a:rPr lang="en-IN" b="1" dirty="0"/>
              <a:t> </a:t>
            </a:r>
            <a:endParaRPr lang="en-IN" sz="1600" b="1" dirty="0"/>
          </a:p>
          <a:p>
            <a:pPr>
              <a:buFont typeface="Wingdings" panose="05000000000000000000" charset="0"/>
              <a:buChar char="ü"/>
            </a:pPr>
            <a:r>
              <a:rPr lang="en-IN" dirty="0">
                <a:latin typeface="Times New Roman" panose="02020603050405020304" pitchFamily="18" charset="0"/>
                <a:cs typeface="Times New Roman" panose="02020603050405020304" pitchFamily="18" charset="0"/>
              </a:rPr>
              <a:t> Provides all trading information (charts, news, watchlist) in one app.</a:t>
            </a:r>
          </a:p>
          <a:p>
            <a:pPr>
              <a:buFont typeface="Wingdings" panose="05000000000000000000" charset="0"/>
              <a:buChar char="ü"/>
            </a:pPr>
            <a:r>
              <a:rPr lang="en-IN" dirty="0">
                <a:latin typeface="Times New Roman" panose="02020603050405020304" pitchFamily="18" charset="0"/>
                <a:cs typeface="Times New Roman" panose="02020603050405020304" pitchFamily="18" charset="0"/>
              </a:rPr>
              <a:t> Offers real-time and interactive </a:t>
            </a:r>
            <a:r>
              <a:rPr lang="en-IN" dirty="0" err="1">
                <a:latin typeface="Times New Roman" panose="02020603050405020304" pitchFamily="18" charset="0"/>
                <a:cs typeface="Times New Roman" panose="02020603050405020304" pitchFamily="18" charset="0"/>
              </a:rPr>
              <a:t>TradingView</a:t>
            </a:r>
            <a:r>
              <a:rPr lang="en-IN" dirty="0">
                <a:latin typeface="Times New Roman" panose="02020603050405020304" pitchFamily="18" charset="0"/>
                <a:cs typeface="Times New Roman" panose="02020603050405020304" pitchFamily="18" charset="0"/>
              </a:rPr>
              <a:t> charts for better analysis.</a:t>
            </a:r>
          </a:p>
          <a:p>
            <a:pPr>
              <a:buFont typeface="Wingdings" panose="05000000000000000000" charset="0"/>
              <a:buChar char="ü"/>
            </a:pPr>
            <a:r>
              <a:rPr lang="en-IN" dirty="0">
                <a:latin typeface="Times New Roman" panose="02020603050405020304" pitchFamily="18" charset="0"/>
                <a:cs typeface="Times New Roman" panose="02020603050405020304" pitchFamily="18" charset="0"/>
              </a:rPr>
              <a:t> Ensures secure login and safe user data storage using Firebase and </a:t>
            </a:r>
            <a:r>
              <a:rPr lang="en-IN" dirty="0" err="1">
                <a:latin typeface="Times New Roman" panose="02020603050405020304" pitchFamily="18" charset="0"/>
                <a:cs typeface="Times New Roman" panose="02020603050405020304" pitchFamily="18" charset="0"/>
              </a:rPr>
              <a:t>Firestore</a:t>
            </a:r>
            <a:r>
              <a:rPr lang="en-IN" dirty="0">
                <a:latin typeface="Times New Roman" panose="02020603050405020304" pitchFamily="18" charset="0"/>
                <a:cs typeface="Times New Roman" panose="02020603050405020304" pitchFamily="18" charset="0"/>
              </a:rPr>
              <a:t>.</a:t>
            </a:r>
          </a:p>
          <a:p>
            <a:pPr>
              <a:buFont typeface="Wingdings" panose="05000000000000000000" charset="0"/>
              <a:buChar char="ü"/>
            </a:pPr>
            <a:r>
              <a:rPr lang="en-IN" dirty="0">
                <a:latin typeface="Times New Roman" panose="02020603050405020304" pitchFamily="18" charset="0"/>
                <a:cs typeface="Times New Roman" panose="02020603050405020304" pitchFamily="18" charset="0"/>
              </a:rPr>
              <a:t> Simple, user-friendly interface suitable for both beginners and experienced users.</a:t>
            </a:r>
          </a:p>
          <a:p>
            <a:pPr>
              <a:buFont typeface="Wingdings" panose="05000000000000000000" charset="0"/>
              <a:buChar char="ü"/>
            </a:pPr>
            <a:r>
              <a:rPr lang="en-IN" dirty="0">
                <a:latin typeface="Times New Roman" panose="02020603050405020304" pitchFamily="18" charset="0"/>
                <a:cs typeface="Times New Roman" panose="02020603050405020304" pitchFamily="18" charset="0"/>
              </a:rPr>
              <a:t>	Cloud synchronization allows access to user preferences across devices.</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065" y="291465"/>
            <a:ext cx="9319895" cy="1320800"/>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HARDWARE AND SOFTWARE REQUIREMENTS</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Hardware Requirements</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Android Smartphone (Minimum Android 7.0 or above)</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Computer/Laptop for development</a:t>
            </a:r>
          </a:p>
          <a:p>
            <a:pPr lvl="0" fontAlgn="base">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Processor: Intel i3 or above</a:t>
            </a:r>
          </a:p>
          <a:p>
            <a:pPr lvl="0" fontAlgn="base">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RAM: Minimum 4GB (8GB recommended)</a:t>
            </a:r>
          </a:p>
          <a:p>
            <a:pPr lvl="0" fontAlgn="base">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Storage: At least 10GB free for Android Studio &amp; SDK</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Internet Connection (Required for Firebase, APIs, and real-time charts)</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Software Requirements</a:t>
            </a:r>
          </a:p>
        </p:txBody>
      </p:sp>
      <p:sp>
        <p:nvSpPr>
          <p:cNvPr id="3" name="Content Placeholder 2"/>
          <p:cNvSpPr>
            <a:spLocks noGrp="1"/>
          </p:cNvSpPr>
          <p:nvPr>
            <p:ph idx="1"/>
          </p:nvPr>
        </p:nvSpPr>
        <p:spPr/>
        <p:txBody>
          <a:bodyPr>
            <a:noAutofit/>
          </a:bodyPr>
          <a:lstStyle/>
          <a:p>
            <a:pPr>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Operating System: </a:t>
            </a:r>
            <a:r>
              <a:rPr lang="en-IN" dirty="0">
                <a:latin typeface="Times New Roman" panose="02020603050405020304" pitchFamily="18" charset="0"/>
                <a:cs typeface="Times New Roman" panose="02020603050405020304" pitchFamily="18" charset="0"/>
              </a:rPr>
              <a:t>Windows / macOS / Linux</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Development IDE: </a:t>
            </a:r>
            <a:r>
              <a:rPr lang="en-IN" dirty="0">
                <a:latin typeface="Times New Roman" panose="02020603050405020304" pitchFamily="18" charset="0"/>
                <a:cs typeface="Times New Roman" panose="02020603050405020304" pitchFamily="18" charset="0"/>
              </a:rPr>
              <a:t>Android Studio (Latest Version)</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Programming Languages: </a:t>
            </a:r>
            <a:r>
              <a:rPr lang="en-IN" dirty="0">
                <a:latin typeface="Times New Roman" panose="02020603050405020304" pitchFamily="18" charset="0"/>
                <a:cs typeface="Times New Roman" panose="02020603050405020304" pitchFamily="18" charset="0"/>
              </a:rPr>
              <a:t>Kotlin / Java</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Database: </a:t>
            </a:r>
            <a:r>
              <a:rPr lang="en-IN" dirty="0">
                <a:latin typeface="Times New Roman" panose="02020603050405020304" pitchFamily="18" charset="0"/>
                <a:cs typeface="Times New Roman" panose="02020603050405020304" pitchFamily="18" charset="0"/>
              </a:rPr>
              <a:t>Firebase </a:t>
            </a:r>
            <a:r>
              <a:rPr lang="en-IN" dirty="0" err="1">
                <a:latin typeface="Times New Roman" panose="02020603050405020304" pitchFamily="18" charset="0"/>
                <a:cs typeface="Times New Roman" panose="02020603050405020304" pitchFamily="18" charset="0"/>
              </a:rPr>
              <a:t>Firestore</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Authentication Service: </a:t>
            </a:r>
            <a:r>
              <a:rPr lang="en-IN" dirty="0">
                <a:latin typeface="Times New Roman" panose="02020603050405020304" pitchFamily="18" charset="0"/>
                <a:cs typeface="Times New Roman" panose="02020603050405020304" pitchFamily="18" charset="0"/>
              </a:rPr>
              <a:t>Firebase Authentication</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Charting Tool: </a:t>
            </a:r>
            <a:r>
              <a:rPr lang="en-IN" dirty="0" err="1">
                <a:latin typeface="Times New Roman" panose="02020603050405020304" pitchFamily="18" charset="0"/>
                <a:cs typeface="Times New Roman" panose="02020603050405020304" pitchFamily="18" charset="0"/>
              </a:rPr>
              <a:t>TradingView</a:t>
            </a:r>
            <a:r>
              <a:rPr lang="en-IN" dirty="0">
                <a:latin typeface="Times New Roman" panose="02020603050405020304" pitchFamily="18" charset="0"/>
                <a:cs typeface="Times New Roman" panose="02020603050405020304" pitchFamily="18" charset="0"/>
              </a:rPr>
              <a:t> Chart Widget</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Version Control: </a:t>
            </a:r>
            <a:r>
              <a:rPr lang="en-IN" dirty="0">
                <a:latin typeface="Times New Roman" panose="02020603050405020304" pitchFamily="18" charset="0"/>
                <a:cs typeface="Times New Roman" panose="02020603050405020304" pitchFamily="18" charset="0"/>
              </a:rPr>
              <a:t>Git &amp; GitHub (optional but recommended)</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Build Tools: </a:t>
            </a:r>
            <a:r>
              <a:rPr lang="en-IN" dirty="0">
                <a:latin typeface="Times New Roman" panose="02020603050405020304" pitchFamily="18" charset="0"/>
                <a:cs typeface="Times New Roman" panose="02020603050405020304" pitchFamily="18" charset="0"/>
              </a:rPr>
              <a:t>Gradle</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UI Framework: </a:t>
            </a:r>
            <a:r>
              <a:rPr lang="en-IN" dirty="0">
                <a:latin typeface="Times New Roman" panose="02020603050405020304" pitchFamily="18" charset="0"/>
                <a:cs typeface="Times New Roman" panose="02020603050405020304" pitchFamily="18" charset="0"/>
              </a:rPr>
              <a:t>Android Jetpack Components (</a:t>
            </a:r>
            <a:r>
              <a:rPr lang="en-IN" dirty="0" err="1">
                <a:latin typeface="Times New Roman" panose="02020603050405020304" pitchFamily="18" charset="0"/>
                <a:cs typeface="Times New Roman" panose="02020603050405020304" pitchFamily="18" charset="0"/>
              </a:rPr>
              <a:t>ViewModel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LiveData</a:t>
            </a:r>
            <a:r>
              <a:rPr lang="en-IN" dirty="0">
                <a:latin typeface="Times New Roman" panose="02020603050405020304" pitchFamily="18" charset="0"/>
                <a:cs typeface="Times New Roman" panose="02020603050405020304" pitchFamily="18" charset="0"/>
              </a:rPr>
              <a:t>, Navigation)</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Architecture Pattern: </a:t>
            </a:r>
            <a:r>
              <a:rPr lang="en-IN" dirty="0">
                <a:latin typeface="Times New Roman" panose="02020603050405020304" pitchFamily="18" charset="0"/>
                <a:cs typeface="Times New Roman" panose="02020603050405020304" pitchFamily="18" charset="0"/>
              </a:rPr>
              <a:t>MVVM (Model–View–</a:t>
            </a:r>
            <a:r>
              <a:rPr lang="en-IN" dirty="0" err="1">
                <a:latin typeface="Times New Roman" panose="02020603050405020304" pitchFamily="18" charset="0"/>
                <a:cs typeface="Times New Roman" panose="02020603050405020304" pitchFamily="18" charset="0"/>
              </a:rPr>
              <a:t>ViewModel</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Requirements for Users</a:t>
            </a:r>
          </a:p>
        </p:txBody>
      </p:sp>
      <p:sp>
        <p:nvSpPr>
          <p:cNvPr id="3" name="Content Placeholder 2"/>
          <p:cNvSpPr>
            <a:spLocks noGrp="1"/>
          </p:cNvSpPr>
          <p:nvPr>
            <p:ph idx="1"/>
          </p:nvPr>
        </p:nvSpPr>
        <p:spPr>
          <a:xfrm>
            <a:off x="474980" y="1525270"/>
            <a:ext cx="11480165" cy="5235575"/>
          </a:xfrm>
        </p:spPr>
        <p:txBody>
          <a:bodyPr>
            <a:noAutofit/>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Android Smartphone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Users must have an Android device running Android 7.0 (Nougat) or above to install and use the </a:t>
            </a:r>
            <a:r>
              <a:rPr lang="en-IN" dirty="0" err="1">
                <a:latin typeface="Times New Roman" panose="02020603050405020304" pitchFamily="18" charset="0"/>
                <a:cs typeface="Times New Roman" panose="02020603050405020304" pitchFamily="18" charset="0"/>
              </a:rPr>
              <a:t>TradeBuddy</a:t>
            </a:r>
            <a:r>
              <a:rPr lang="en-IN" dirty="0">
                <a:latin typeface="Times New Roman" panose="02020603050405020304" pitchFamily="18" charset="0"/>
                <a:cs typeface="Times New Roman" panose="02020603050405020304" pitchFamily="18" charset="0"/>
              </a:rPr>
              <a:t> app.</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Stable Internet Connection</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 working internet connection is required to load real-time stock charts, market news, and    sync user data.</a:t>
            </a:r>
          </a:p>
          <a:p>
            <a:r>
              <a:rPr lang="en-IN" b="1" dirty="0">
                <a:latin typeface="Times New Roman" panose="02020603050405020304" pitchFamily="18" charset="0"/>
                <a:cs typeface="Times New Roman" panose="02020603050405020304" pitchFamily="18" charset="0"/>
              </a:rPr>
              <a:t>Valid Email ID</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Users need a valid email address to register and log in through Firebase Authentication.</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Basic Knowledge of Stock Market</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Users should have basic understanding of stocks, charts, and market trends to use the app effectively.</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Sufficient Storage Space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The device should have enough storage space for the app installation and cached data.</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Google Play Services Enabled</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The device must support and enable Google services for Firebase functionality.</a:t>
            </a:r>
          </a:p>
          <a:p>
            <a:endParaRPr lang="en-IN"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latin typeface="Times New Roman" panose="02020603050405020304" pitchFamily="18" charset="0"/>
                <a:cs typeface="Times New Roman" panose="02020603050405020304" pitchFamily="18" charset="0"/>
              </a:rPr>
              <a:t>PROCESS MODEL</a:t>
            </a:r>
          </a:p>
        </p:txBody>
      </p:sp>
      <p:pic>
        <p:nvPicPr>
          <p:cNvPr id="47" name="Picture 47" descr="waterfall_model"/>
          <p:cNvPicPr>
            <a:picLocks noGrp="1" noChangeAspect="1"/>
          </p:cNvPicPr>
          <p:nvPr>
            <p:ph idx="1"/>
          </p:nvPr>
        </p:nvPicPr>
        <p:blipFill>
          <a:blip r:embed="rId2"/>
          <a:stretch>
            <a:fillRect/>
          </a:stretch>
        </p:blipFill>
        <p:spPr>
          <a:xfrm>
            <a:off x="7870825" y="3428365"/>
            <a:ext cx="4220845" cy="2631440"/>
          </a:xfrm>
          <a:prstGeom prst="rect">
            <a:avLst/>
          </a:prstGeom>
        </p:spPr>
      </p:pic>
      <p:sp>
        <p:nvSpPr>
          <p:cNvPr id="4" name="Text Box 3"/>
          <p:cNvSpPr txBox="1"/>
          <p:nvPr/>
        </p:nvSpPr>
        <p:spPr>
          <a:xfrm>
            <a:off x="504190" y="1403350"/>
            <a:ext cx="8596630" cy="3692525"/>
          </a:xfrm>
          <a:prstGeom prst="rect">
            <a:avLst/>
          </a:prstGeom>
        </p:spPr>
        <p:txBody>
          <a:bodyPr wrap="square">
            <a:spAutoFit/>
          </a:bodyPr>
          <a:lstStyle/>
          <a:p>
            <a:pPr marL="285750" indent="-285750">
              <a:buClr>
                <a:srgbClr val="5FCBEF"/>
              </a:buClr>
              <a:buFont typeface="Wingdings" panose="05000000000000000000" charset="0"/>
              <a:buChar char="ü"/>
            </a:pPr>
            <a:r>
              <a:rPr>
                <a:ln/>
                <a:solidFill>
                  <a:schemeClr val="tx1"/>
                </a:solidFill>
                <a:effectLst/>
                <a:latin typeface="Times New Roman" panose="02020603050405020304" pitchFamily="18" charset="0"/>
                <a:cs typeface="Times New Roman" panose="02020603050405020304" pitchFamily="18" charset="0"/>
              </a:rPr>
              <a:t>Requirements: Identify app features like login, watchlist, charts, and news.</a:t>
            </a:r>
          </a:p>
          <a:p>
            <a:pPr marL="285750" indent="-285750">
              <a:buClr>
                <a:srgbClr val="5FCBEF"/>
              </a:buClr>
              <a:buFont typeface="Wingdings" panose="05000000000000000000" charset="0"/>
              <a:buChar char="ü"/>
            </a:pPr>
            <a:endParaRPr>
              <a:ln/>
              <a:solidFill>
                <a:schemeClr val="tx1"/>
              </a:solidFill>
              <a:effectLst/>
              <a:latin typeface="Times New Roman" panose="02020603050405020304" pitchFamily="18" charset="0"/>
              <a:cs typeface="Times New Roman" panose="02020603050405020304" pitchFamily="18" charset="0"/>
            </a:endParaRPr>
          </a:p>
          <a:p>
            <a:pPr marL="285750" indent="-285750">
              <a:buClr>
                <a:srgbClr val="5FCBEF"/>
              </a:buClr>
              <a:buFont typeface="Wingdings" panose="05000000000000000000" charset="0"/>
              <a:buChar char="ü"/>
            </a:pPr>
            <a:r>
              <a:rPr>
                <a:ln/>
                <a:solidFill>
                  <a:schemeClr val="tx1"/>
                </a:solidFill>
                <a:effectLst/>
                <a:latin typeface="Times New Roman" panose="02020603050405020304" pitchFamily="18" charset="0"/>
                <a:cs typeface="Times New Roman" panose="02020603050405020304" pitchFamily="18" charset="0"/>
              </a:rPr>
              <a:t>Analysis: Understand system flow and how Firebase, Firestore, and TradingView work.</a:t>
            </a:r>
          </a:p>
          <a:p>
            <a:pPr marL="285750" indent="-285750">
              <a:buClr>
                <a:srgbClr val="5FCBEF"/>
              </a:buClr>
              <a:buFont typeface="Wingdings" panose="05000000000000000000" charset="0"/>
              <a:buChar char="ü"/>
            </a:pPr>
            <a:endParaRPr>
              <a:ln/>
              <a:solidFill>
                <a:schemeClr val="tx1"/>
              </a:solidFill>
              <a:effectLst/>
              <a:latin typeface="Times New Roman" panose="02020603050405020304" pitchFamily="18" charset="0"/>
              <a:cs typeface="Times New Roman" panose="02020603050405020304" pitchFamily="18" charset="0"/>
            </a:endParaRPr>
          </a:p>
          <a:p>
            <a:pPr marL="285750" indent="-285750">
              <a:buClr>
                <a:srgbClr val="5FCBEF"/>
              </a:buClr>
              <a:buFont typeface="Wingdings" panose="05000000000000000000" charset="0"/>
              <a:buChar char="ü"/>
            </a:pPr>
            <a:r>
              <a:rPr>
                <a:ln/>
                <a:solidFill>
                  <a:schemeClr val="tx1"/>
                </a:solidFill>
                <a:effectLst/>
                <a:latin typeface="Times New Roman" panose="02020603050405020304" pitchFamily="18" charset="0"/>
                <a:cs typeface="Times New Roman" panose="02020603050405020304" pitchFamily="18" charset="0"/>
              </a:rPr>
              <a:t>Design: Create UI screens, database structure, navigation, and MVVM layout.</a:t>
            </a:r>
          </a:p>
          <a:p>
            <a:pPr marL="285750" indent="-285750">
              <a:buClr>
                <a:srgbClr val="5FCBEF"/>
              </a:buClr>
              <a:buFont typeface="Wingdings" panose="05000000000000000000" charset="0"/>
              <a:buChar char="ü"/>
            </a:pPr>
            <a:endParaRPr>
              <a:ln/>
              <a:solidFill>
                <a:schemeClr val="tx1"/>
              </a:solidFill>
              <a:effectLst/>
              <a:latin typeface="Times New Roman" panose="02020603050405020304" pitchFamily="18" charset="0"/>
              <a:cs typeface="Times New Roman" panose="02020603050405020304" pitchFamily="18" charset="0"/>
            </a:endParaRPr>
          </a:p>
          <a:p>
            <a:pPr marL="285750" indent="-285750">
              <a:buClr>
                <a:srgbClr val="5FCBEF"/>
              </a:buClr>
              <a:buFont typeface="Wingdings" panose="05000000000000000000" charset="0"/>
              <a:buChar char="ü"/>
            </a:pPr>
            <a:r>
              <a:rPr>
                <a:ln/>
                <a:solidFill>
                  <a:schemeClr val="tx1"/>
                </a:solidFill>
                <a:effectLst/>
                <a:latin typeface="Times New Roman" panose="02020603050405020304" pitchFamily="18" charset="0"/>
                <a:cs typeface="Times New Roman" panose="02020603050405020304" pitchFamily="18" charset="0"/>
              </a:rPr>
              <a:t>Implementation: Develop the app in Android Studio using Kotlin.</a:t>
            </a:r>
          </a:p>
          <a:p>
            <a:pPr marL="285750" indent="-285750">
              <a:buClr>
                <a:srgbClr val="5FCBEF"/>
              </a:buClr>
              <a:buFont typeface="Wingdings" panose="05000000000000000000" charset="0"/>
              <a:buChar char="ü"/>
            </a:pPr>
            <a:endParaRPr>
              <a:ln/>
              <a:solidFill>
                <a:schemeClr val="tx1"/>
              </a:solidFill>
              <a:effectLst/>
              <a:latin typeface="Times New Roman" panose="02020603050405020304" pitchFamily="18" charset="0"/>
              <a:cs typeface="Times New Roman" panose="02020603050405020304" pitchFamily="18" charset="0"/>
            </a:endParaRPr>
          </a:p>
          <a:p>
            <a:pPr marL="285750" indent="-285750" algn="just">
              <a:buClr>
                <a:srgbClr val="5FCBEF"/>
              </a:buClr>
              <a:buFont typeface="Wingdings" panose="05000000000000000000" charset="0"/>
              <a:buChar char="ü"/>
            </a:pPr>
            <a:r>
              <a:rPr>
                <a:ln/>
                <a:solidFill>
                  <a:schemeClr val="tx1"/>
                </a:solidFill>
                <a:effectLst/>
                <a:latin typeface="Times New Roman" panose="02020603050405020304" pitchFamily="18" charset="0"/>
                <a:cs typeface="Times New Roman" panose="02020603050405020304" pitchFamily="18" charset="0"/>
              </a:rPr>
              <a:t>Testing: Check each feature, fix bugs, and ensure smooth performance.</a:t>
            </a:r>
          </a:p>
          <a:p>
            <a:pPr marL="285750" indent="-285750">
              <a:buClr>
                <a:srgbClr val="5FCBEF"/>
              </a:buClr>
              <a:buFont typeface="Wingdings" panose="05000000000000000000" charset="0"/>
              <a:buChar char="ü"/>
            </a:pPr>
            <a:endParaRPr>
              <a:ln/>
              <a:solidFill>
                <a:schemeClr val="tx1"/>
              </a:solidFill>
              <a:effectLst/>
              <a:latin typeface="Times New Roman" panose="02020603050405020304" pitchFamily="18" charset="0"/>
              <a:cs typeface="Times New Roman" panose="02020603050405020304" pitchFamily="18" charset="0"/>
            </a:endParaRPr>
          </a:p>
          <a:p>
            <a:pPr marL="285750" indent="-285750">
              <a:buClr>
                <a:srgbClr val="5FCBEF"/>
              </a:buClr>
              <a:buFont typeface="Wingdings" panose="05000000000000000000" charset="0"/>
              <a:buChar char="ü"/>
            </a:pPr>
            <a:r>
              <a:rPr>
                <a:ln/>
                <a:solidFill>
                  <a:schemeClr val="tx1"/>
                </a:solidFill>
                <a:effectLst/>
                <a:latin typeface="Times New Roman" panose="02020603050405020304" pitchFamily="18" charset="0"/>
                <a:cs typeface="Times New Roman" panose="02020603050405020304" pitchFamily="18" charset="0"/>
              </a:rPr>
              <a:t>Deployment: Install and release the final app to users.</a:t>
            </a:r>
          </a:p>
          <a:p>
            <a:pPr marL="285750" indent="-285750">
              <a:buClr>
                <a:srgbClr val="5FCBEF"/>
              </a:buClr>
              <a:buFont typeface="Wingdings" panose="05000000000000000000" charset="0"/>
              <a:buChar char="ü"/>
            </a:pPr>
            <a:endParaRPr>
              <a:ln/>
              <a:solidFill>
                <a:schemeClr val="tx1"/>
              </a:solidFill>
              <a:effectLst/>
              <a:latin typeface="Times New Roman" panose="02020603050405020304" pitchFamily="18" charset="0"/>
              <a:cs typeface="Times New Roman" panose="02020603050405020304" pitchFamily="18" charset="0"/>
            </a:endParaRPr>
          </a:p>
          <a:p>
            <a:pPr marL="285750" indent="-285750">
              <a:buClr>
                <a:srgbClr val="5FCBEF"/>
              </a:buClr>
              <a:buFont typeface="Wingdings" panose="05000000000000000000" charset="0"/>
              <a:buChar char="ü"/>
            </a:pPr>
            <a:r>
              <a:rPr>
                <a:ln/>
                <a:solidFill>
                  <a:schemeClr val="tx1"/>
                </a:solidFill>
                <a:effectLst/>
                <a:latin typeface="Times New Roman" panose="02020603050405020304" pitchFamily="18" charset="0"/>
                <a:cs typeface="Times New Roman" panose="02020603050405020304" pitchFamily="18" charset="0"/>
              </a:rPr>
              <a:t>Maintenance: Update features, fix issues, and improve the app over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a:latin typeface="Times New Roman" panose="02020603050405020304" pitchFamily="18" charset="0"/>
                <a:cs typeface="Times New Roman" panose="02020603050405020304" pitchFamily="18" charset="0"/>
              </a:rPr>
              <a:t>  </a:t>
            </a:r>
            <a:r>
              <a:rPr lang="en-US" altLang="en-GB" b="1">
                <a:latin typeface="Times New Roman" panose="02020603050405020304" pitchFamily="18" charset="0"/>
                <a:cs typeface="Times New Roman" panose="02020603050405020304" pitchFamily="18" charset="0"/>
              </a:rPr>
              <a:t>PROJECT PLAN</a:t>
            </a:r>
          </a:p>
        </p:txBody>
      </p:sp>
      <p:pic>
        <p:nvPicPr>
          <p:cNvPr id="32" name="Picture 32" descr="chart"/>
          <p:cNvPicPr>
            <a:picLocks noGrp="1" noChangeAspect="1"/>
          </p:cNvPicPr>
          <p:nvPr>
            <p:ph idx="1"/>
          </p:nvPr>
        </p:nvPicPr>
        <p:blipFill>
          <a:blip r:embed="rId2"/>
          <a:stretch>
            <a:fillRect/>
          </a:stretch>
        </p:blipFill>
        <p:spPr>
          <a:xfrm>
            <a:off x="1077595" y="1486535"/>
            <a:ext cx="8712835" cy="45548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854" y="484505"/>
            <a:ext cx="8596668" cy="795867"/>
          </a:xfrm>
        </p:spPr>
        <p:txBody>
          <a:bodyPr>
            <a:normAutofit/>
          </a:bodyPr>
          <a:lstStyle/>
          <a:p>
            <a:pPr algn="ctr"/>
            <a:r>
              <a:rPr lang="en-US" sz="3600" b="1" dirty="0">
                <a:solidFill>
                  <a:schemeClr val="accent1"/>
                </a:solidFill>
                <a:effectLst/>
                <a:latin typeface="Times New Roman" panose="02020603050405020304" pitchFamily="18" charset="0"/>
                <a:ea typeface="DengXian" panose="020B0503020204020204" pitchFamily="2" charset="-122"/>
                <a:cs typeface="Times New Roman" panose="02020603050405020304" pitchFamily="18" charset="0"/>
              </a:rPr>
              <a:t>System Design </a:t>
            </a:r>
          </a:p>
        </p:txBody>
      </p:sp>
      <p:sp>
        <p:nvSpPr>
          <p:cNvPr id="3" name="Content Placeholder 2"/>
          <p:cNvSpPr>
            <a:spLocks noGrp="1"/>
          </p:cNvSpPr>
          <p:nvPr>
            <p:ph idx="1"/>
          </p:nvPr>
        </p:nvSpPr>
        <p:spPr>
          <a:xfrm>
            <a:off x="677545" y="1280160"/>
            <a:ext cx="8596630" cy="5259070"/>
          </a:xfrm>
        </p:spPr>
        <p:txBody>
          <a:bodyPr>
            <a:normAutofit/>
          </a:bodyPr>
          <a:lstStyle/>
          <a:p>
            <a:pPr>
              <a:buFont typeface="Wingdings" panose="05000000000000000000" charset="0"/>
              <a:buChar char="ü"/>
            </a:pPr>
            <a:r>
              <a:rPr lang="en-US" altLang="en-GB" dirty="0">
                <a:solidFill>
                  <a:srgbClr val="000000"/>
                </a:solidFill>
                <a:latin typeface="Times New Roman" panose="02020603050405020304" pitchFamily="18" charset="0"/>
                <a:cs typeface="Courier New" panose="02070309020205020404" pitchFamily="49" charset="0"/>
              </a:rPr>
              <a:t> Use Case Diagram</a:t>
            </a:r>
          </a:p>
          <a:p>
            <a:pPr>
              <a:buFont typeface="Arial" panose="020B0604020202020204" pitchFamily="34" charset="0"/>
              <a:buChar char="•"/>
            </a:pPr>
            <a:endParaRPr lang="en-US" altLang="en-GB" dirty="0">
              <a:solidFill>
                <a:srgbClr val="000000"/>
              </a:solidFill>
              <a:latin typeface="Times New Roman" panose="02020603050405020304" pitchFamily="18" charset="0"/>
              <a:cs typeface="Courier New" panose="02070309020205020404" pitchFamily="49" charset="0"/>
            </a:endParaRPr>
          </a:p>
        </p:txBody>
      </p:sp>
      <p:pic>
        <p:nvPicPr>
          <p:cNvPr id="112" name="Image 112"/>
          <p:cNvPicPr/>
          <p:nvPr/>
        </p:nvPicPr>
        <p:blipFill>
          <a:blip r:embed="rId2" cstate="print"/>
          <a:stretch>
            <a:fillRect/>
          </a:stretch>
        </p:blipFill>
        <p:spPr>
          <a:xfrm>
            <a:off x="4688205" y="1253490"/>
            <a:ext cx="6312535" cy="52857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latin typeface="Times New Roman" panose="02020603050405020304" pitchFamily="18" charset="0"/>
                <a:cs typeface="Times New Roman" panose="02020603050405020304" pitchFamily="18" charset="0"/>
              </a:rPr>
              <a:t>Sequence Diagram</a:t>
            </a:r>
          </a:p>
        </p:txBody>
      </p:sp>
      <p:pic>
        <p:nvPicPr>
          <p:cNvPr id="113" name="Image 113" descr="Sequence Diagram"/>
          <p:cNvPicPr>
            <a:picLocks noGrp="1" noChangeAspect="1"/>
          </p:cNvPicPr>
          <p:nvPr>
            <p:ph idx="1"/>
          </p:nvPr>
        </p:nvPicPr>
        <p:blipFill>
          <a:blip r:embed="rId2" cstate="print"/>
          <a:stretch>
            <a:fillRect/>
          </a:stretch>
        </p:blipFill>
        <p:spPr>
          <a:xfrm>
            <a:off x="1422400" y="1659255"/>
            <a:ext cx="7761605" cy="43821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6615" y="280670"/>
            <a:ext cx="6272530" cy="863600"/>
          </a:xfrm>
        </p:spPr>
        <p:txBody>
          <a:bodyPr>
            <a:normAutofit fontScale="90000"/>
          </a:bodyPr>
          <a:lstStyle/>
          <a:p>
            <a:pPr algn="ctr"/>
            <a:r>
              <a:rPr lang="en-US" sz="4000" b="1" dirty="0">
                <a:effectLst/>
                <a:latin typeface="Times New Roman" panose="02020603050405020304" pitchFamily="18" charset="0"/>
                <a:ea typeface="DengXian" panose="020B0503020204020204" pitchFamily="2" charset="-122"/>
                <a:cs typeface="Times New Roman" panose="02020603050405020304" pitchFamily="18" charset="0"/>
              </a:rPr>
              <a:t>Class Diagram</a:t>
            </a:r>
            <a:br>
              <a:rPr lang="en-US" sz="4000" dirty="0">
                <a:effectLst/>
                <a:latin typeface="Times New Roman" panose="02020603050405020304" pitchFamily="18" charset="0"/>
                <a:ea typeface="DengXian" panose="020B0503020204020204" pitchFamily="2" charset="-122"/>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pic>
        <p:nvPicPr>
          <p:cNvPr id="3" name="Picture 2" descr="class-diagram"/>
          <p:cNvPicPr/>
          <p:nvPr/>
        </p:nvPicPr>
        <p:blipFill>
          <a:blip r:embed="rId2"/>
          <a:stretch>
            <a:fillRect/>
          </a:stretch>
        </p:blipFill>
        <p:spPr>
          <a:xfrm>
            <a:off x="1033145" y="1297992"/>
            <a:ext cx="7366000" cy="4495799"/>
          </a:xfrm>
          <a:prstGeom prst="rect">
            <a:avLst/>
          </a:prstGeom>
        </p:spPr>
      </p:pic>
      <p:sp>
        <p:nvSpPr>
          <p:cNvPr id="4" name="TextBox 3">
            <a:extLst>
              <a:ext uri="{FF2B5EF4-FFF2-40B4-BE49-F238E27FC236}">
                <a16:creationId xmlns:a16="http://schemas.microsoft.com/office/drawing/2014/main" id="{6DF67F16-0F00-5BFA-5E9F-74D45F37AC06}"/>
              </a:ext>
            </a:extLst>
          </p:cNvPr>
          <p:cNvSpPr txBox="1"/>
          <p:nvPr/>
        </p:nvSpPr>
        <p:spPr>
          <a:xfrm>
            <a:off x="4160431" y="2267339"/>
            <a:ext cx="44889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185420"/>
            <a:ext cx="5520690" cy="838835"/>
          </a:xfrm>
        </p:spPr>
        <p:txBody>
          <a:bodyPr>
            <a:normAutofit fontScale="90000"/>
          </a:bodyPr>
          <a:lstStyle/>
          <a:p>
            <a:pPr algn="ctr"/>
            <a:r>
              <a:rPr lang="en-US" sz="4000" b="1" dirty="0">
                <a:effectLst/>
                <a:latin typeface="Times New Roman" panose="02020603050405020304" pitchFamily="18" charset="0"/>
                <a:ea typeface="DengXian" panose="020B0503020204020204" pitchFamily="2" charset="-122"/>
                <a:cs typeface="Times New Roman" panose="02020603050405020304" pitchFamily="18" charset="0"/>
              </a:rPr>
              <a:t>Activity Diagram</a:t>
            </a:r>
            <a:br>
              <a:rPr lang="en-US" sz="4000" dirty="0">
                <a:effectLst/>
                <a:latin typeface="Calibri" panose="020F0502020204030204" charset="0"/>
                <a:ea typeface="DengXian" panose="020B0503020204020204" pitchFamily="2" charset="-122"/>
                <a:cs typeface="Times New Roman" panose="02020603050405020304" pitchFamily="18" charset="0"/>
              </a:rPr>
            </a:br>
            <a:endParaRPr lang="en-US" sz="4000" dirty="0"/>
          </a:p>
        </p:txBody>
      </p:sp>
      <p:pic>
        <p:nvPicPr>
          <p:cNvPr id="114" name="Image 114" descr="activity diagram"/>
          <p:cNvPicPr/>
          <p:nvPr/>
        </p:nvPicPr>
        <p:blipFill>
          <a:blip r:embed="rId2" cstate="print"/>
          <a:stretch>
            <a:fillRect/>
          </a:stretch>
        </p:blipFill>
        <p:spPr>
          <a:xfrm>
            <a:off x="4795520" y="1197610"/>
            <a:ext cx="3652520" cy="53511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latin typeface="Times New Roman" panose="02020603050405020304" pitchFamily="18" charset="0"/>
                <a:cs typeface="Times New Roman" panose="02020603050405020304" pitchFamily="18" charset="0"/>
              </a:rPr>
              <a:t>DFD</a:t>
            </a:r>
          </a:p>
        </p:txBody>
      </p:sp>
      <p:pic>
        <p:nvPicPr>
          <p:cNvPr id="115" name="Image 115" descr="Screenshot 2025-11-20 155155"/>
          <p:cNvPicPr/>
          <p:nvPr/>
        </p:nvPicPr>
        <p:blipFill>
          <a:blip r:embed="rId2" cstate="print"/>
          <a:stretch>
            <a:fillRect/>
          </a:stretch>
        </p:blipFill>
        <p:spPr>
          <a:xfrm>
            <a:off x="1558290" y="1327150"/>
            <a:ext cx="7117715" cy="48298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 name="Image 116" descr="Screenshot 2025-11-20 160240"/>
          <p:cNvPicPr/>
          <p:nvPr/>
        </p:nvPicPr>
        <p:blipFill>
          <a:blip r:embed="rId2" cstate="print"/>
          <a:stretch>
            <a:fillRect/>
          </a:stretch>
        </p:blipFill>
        <p:spPr>
          <a:xfrm>
            <a:off x="977265" y="1272540"/>
            <a:ext cx="8281035" cy="45929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Image 117" descr="Screenshot 2025-11-20 161915"/>
          <p:cNvPicPr/>
          <p:nvPr/>
        </p:nvPicPr>
        <p:blipFill>
          <a:blip r:embed="rId2" cstate="print"/>
          <a:stretch>
            <a:fillRect/>
          </a:stretch>
        </p:blipFill>
        <p:spPr>
          <a:xfrm>
            <a:off x="1026795" y="1101725"/>
            <a:ext cx="7804150" cy="49637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43467"/>
          </a:xfrm>
        </p:spPr>
        <p:txBody>
          <a:bodyPr>
            <a:noAutofit/>
          </a:bodyPr>
          <a:lstStyle/>
          <a:p>
            <a:pPr algn="ctr"/>
            <a:r>
              <a:rPr lang="en-US" b="1" dirty="0">
                <a:solidFill>
                  <a:schemeClr val="accent1"/>
                </a:solidFill>
                <a:effectLst/>
                <a:latin typeface="Times New Roman" panose="02020603050405020304" pitchFamily="18" charset="0"/>
                <a:ea typeface="DengXian" panose="020B0503020204020204" pitchFamily="2" charset="-122"/>
                <a:cs typeface="Times New Roman" panose="02020603050405020304" pitchFamily="18" charset="0"/>
              </a:rPr>
              <a:t> Data Dictionary</a:t>
            </a:r>
            <a:br>
              <a:rPr lang="en-US" dirty="0">
                <a:solidFill>
                  <a:schemeClr val="accent1"/>
                </a:solidFill>
                <a:effectLst/>
                <a:latin typeface="Times New Roman" panose="02020603050405020304" pitchFamily="18" charset="0"/>
                <a:ea typeface="DengXian" panose="020B0503020204020204" pitchFamily="2" charset="-122"/>
                <a:cs typeface="Times New Roman" panose="02020603050405020304" pitchFamily="18" charset="0"/>
              </a:rPr>
            </a:br>
            <a:endParaRPr lang="en-US" dirty="0">
              <a:solidFill>
                <a:schemeClr val="accent1"/>
              </a:solidFill>
              <a:effectLst/>
              <a:latin typeface="Times New Roman" panose="02020603050405020304" pitchFamily="18" charset="0"/>
              <a:ea typeface="DengXian" panose="020B0503020204020204" pitchFamily="2" charset="-122"/>
              <a:cs typeface="Times New Roman" panose="02020603050405020304" pitchFamily="18" charset="0"/>
            </a:endParaRPr>
          </a:p>
        </p:txBody>
      </p:sp>
      <p:sp>
        <p:nvSpPr>
          <p:cNvPr id="3" name="Content Placeholder 2"/>
          <p:cNvSpPr>
            <a:spLocks noGrp="1"/>
          </p:cNvSpPr>
          <p:nvPr>
            <p:ph idx="1"/>
          </p:nvPr>
        </p:nvSpPr>
        <p:spPr>
          <a:xfrm>
            <a:off x="728135" y="1449388"/>
            <a:ext cx="8596668" cy="4714345"/>
          </a:xfrm>
        </p:spPr>
        <p:txBody>
          <a:bodyPr>
            <a:normAutofit fontScale="32500" lnSpcReduction="20000"/>
          </a:bodyPr>
          <a:lstStyle/>
          <a:p>
            <a:pPr marL="0" lvl="0" indent="0">
              <a:buSzPts val="700"/>
              <a:buNone/>
              <a:tabLst>
                <a:tab pos="266700" algn="l"/>
              </a:tabLst>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1.Users Collectio</a:t>
            </a:r>
            <a:r>
              <a:rPr lang="en-US" sz="7200" b="1" dirty="0">
                <a:solidFill>
                  <a:schemeClr val="tx1"/>
                </a:solidFill>
                <a:latin typeface="Times New Roman" panose="02020603050405020304" pitchFamily="18" charset="0"/>
                <a:ea typeface="DengXian" panose="020B0503020204020204" pitchFamily="2" charset="-122"/>
                <a:cs typeface="Times New Roman" panose="02020603050405020304" pitchFamily="18" charset="0"/>
              </a:rPr>
              <a:t>n</a:t>
            </a:r>
            <a:endPar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endParaRPr>
          </a:p>
          <a:p>
            <a:pPr marL="0" indent="0">
              <a:buNone/>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 </a:t>
            </a:r>
            <a:endPar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endParaRPr>
          </a:p>
          <a:p>
            <a:pPr marL="0" indent="0">
              <a:lnSpc>
                <a:spcPct val="120000"/>
              </a:lnSpc>
              <a:buNone/>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Path:</a:t>
            </a:r>
            <a:r>
              <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 /users/{userId}</a:t>
            </a:r>
          </a:p>
          <a:p>
            <a:pPr marL="0" indent="0">
              <a:lnSpc>
                <a:spcPct val="120000"/>
              </a:lnSpc>
              <a:buNone/>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 </a:t>
            </a:r>
            <a:endPar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endParaRPr>
          </a:p>
          <a:p>
            <a:pPr marL="0" indent="0">
              <a:lnSpc>
                <a:spcPct val="120000"/>
              </a:lnSpc>
              <a:buNone/>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Description: </a:t>
            </a:r>
            <a:r>
              <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Stores details about each registered user.</a:t>
            </a:r>
          </a:p>
          <a:p>
            <a:pPr marL="0" indent="0">
              <a:lnSpc>
                <a:spcPct val="120000"/>
              </a:lnSpc>
              <a:buNone/>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 </a:t>
            </a:r>
            <a:endPar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endParaRPr>
          </a:p>
          <a:p>
            <a:pPr marL="0" indent="0">
              <a:lnSpc>
                <a:spcPct val="120000"/>
              </a:lnSpc>
              <a:buNone/>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Fields:-</a:t>
            </a:r>
            <a:endPar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endParaRPr>
          </a:p>
          <a:p>
            <a:pPr marL="0" lvl="0" indent="0">
              <a:lnSpc>
                <a:spcPct val="120000"/>
              </a:lnSpc>
              <a:buSzPts val="1000"/>
              <a:buNone/>
              <a:tabLst>
                <a:tab pos="266700" algn="l"/>
              </a:tabLst>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name (String) →</a:t>
            </a:r>
            <a:r>
              <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 User’s full name</a:t>
            </a:r>
          </a:p>
          <a:p>
            <a:pPr marL="0" lvl="0" indent="0">
              <a:lnSpc>
                <a:spcPct val="120000"/>
              </a:lnSpc>
              <a:buSzPts val="1000"/>
              <a:buNone/>
              <a:tabLst>
                <a:tab pos="266700" algn="l"/>
              </a:tabLst>
            </a:pPr>
            <a:r>
              <a:rPr lang="en-US" sz="7200" b="1"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email (String) →</a:t>
            </a:r>
            <a:r>
              <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rPr>
              <a:t> User’s email</a:t>
            </a:r>
          </a:p>
          <a:p>
            <a:pPr marL="0" lvl="0" indent="0">
              <a:lnSpc>
                <a:spcPct val="120000"/>
              </a:lnSpc>
              <a:buSzPts val="1000"/>
              <a:buNone/>
              <a:tabLst>
                <a:tab pos="266700" algn="l"/>
              </a:tabLst>
            </a:pPr>
            <a:r>
              <a:rPr lang="en-US" sz="7200" b="1" dirty="0" err="1">
                <a:solidFill>
                  <a:schemeClr val="tx1"/>
                </a:solidFill>
                <a:latin typeface="Times New Roman" panose="02020603050405020304" pitchFamily="18" charset="0"/>
                <a:ea typeface="DengXian" panose="020B0503020204020204" pitchFamily="2" charset="-122"/>
                <a:cs typeface="Times New Roman" panose="02020603050405020304" pitchFamily="18" charset="0"/>
              </a:rPr>
              <a:t>Uid</a:t>
            </a:r>
            <a:r>
              <a:rPr lang="en-US" sz="7200" b="1" dirty="0">
                <a:solidFill>
                  <a:schemeClr val="tx1"/>
                </a:solidFill>
                <a:latin typeface="Times New Roman" panose="02020603050405020304" pitchFamily="18" charset="0"/>
                <a:ea typeface="DengXian" panose="020B0503020204020204" pitchFamily="2" charset="-122"/>
                <a:cs typeface="Times New Roman" panose="02020603050405020304" pitchFamily="18" charset="0"/>
              </a:rPr>
              <a:t> → </a:t>
            </a:r>
            <a:r>
              <a:rPr lang="en-US" sz="7200" dirty="0">
                <a:solidFill>
                  <a:schemeClr val="tx1"/>
                </a:solidFill>
                <a:latin typeface="Times New Roman" panose="02020603050405020304" pitchFamily="18" charset="0"/>
                <a:ea typeface="DengXian" panose="020B0503020204020204" pitchFamily="2" charset="-122"/>
                <a:cs typeface="Times New Roman" panose="02020603050405020304" pitchFamily="18" charset="0"/>
              </a:rPr>
              <a:t>User’s unique id</a:t>
            </a:r>
            <a:endParaRPr lang="en-US" sz="7200" dirty="0">
              <a:solidFill>
                <a:schemeClr val="tx1"/>
              </a:solidFill>
              <a:effectLst/>
              <a:latin typeface="Times New Roman" panose="02020603050405020304" pitchFamily="18" charset="0"/>
              <a:ea typeface="DengXian" panose="020B0503020204020204" pitchFamily="2" charset="-122"/>
              <a:cs typeface="Times New Roman" panose="02020603050405020304" pitchFamily="18" charset="0"/>
            </a:endParaRP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830" y="1078230"/>
            <a:ext cx="8596630" cy="4633595"/>
          </a:xfrm>
        </p:spPr>
        <p:txBody>
          <a:bodyPr>
            <a:normAutofit fontScale="90000"/>
          </a:bodyPr>
          <a:lstStyle/>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 2.</a:t>
            </a:r>
            <a:r>
              <a:rPr lang="en-US" sz="2000" b="1" dirty="0">
                <a:solidFill>
                  <a:schemeClr val="tx1"/>
                </a:solidFill>
                <a:latin typeface="Times New Roman" panose="02020603050405020304" pitchFamily="18" charset="0"/>
                <a:cs typeface="Times New Roman" panose="02020603050405020304" pitchFamily="18" charset="0"/>
              </a:rPr>
              <a:t>Watchlist</a:t>
            </a:r>
            <a:br>
              <a:rPr lang="en-US" sz="2000" b="1" dirty="0">
                <a:solidFill>
                  <a:schemeClr val="tx1"/>
                </a:solidFill>
                <a:latin typeface="Times New Roman" panose="02020603050405020304" pitchFamily="18" charset="0"/>
                <a:cs typeface="Times New Roman" panose="02020603050405020304" pitchFamily="18" charset="0"/>
              </a:rPr>
            </a:b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Path: </a:t>
            </a:r>
            <a:r>
              <a:rPr lang="en-US" sz="2000" dirty="0">
                <a:solidFill>
                  <a:schemeClr val="tx1"/>
                </a:solidFill>
                <a:latin typeface="Times New Roman" panose="02020603050405020304" pitchFamily="18" charset="0"/>
                <a:cs typeface="Times New Roman" panose="02020603050405020304" pitchFamily="18" charset="0"/>
              </a:rPr>
              <a:t>/stocks/{stockId}</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Description: </a:t>
            </a:r>
            <a:r>
              <a:rPr lang="en-US" sz="2000" dirty="0">
                <a:solidFill>
                  <a:schemeClr val="tx1"/>
                </a:solidFill>
                <a:latin typeface="Times New Roman" panose="02020603050405020304" pitchFamily="18" charset="0"/>
                <a:cs typeface="Times New Roman" panose="02020603050405020304" pitchFamily="18" charset="0"/>
              </a:rPr>
              <a:t>Stores stock data (if you plan to cache from APIs).</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Fields:-</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country</a:t>
            </a:r>
            <a:r>
              <a:rPr lang="en-US" sz="2000" dirty="0">
                <a:solidFill>
                  <a:schemeClr val="tx1"/>
                </a:solidFill>
                <a:latin typeface="Times New Roman" panose="02020603050405020304" pitchFamily="18" charset="0"/>
                <a:cs typeface="Times New Roman" panose="02020603050405020304" pitchFamily="18" charset="0"/>
              </a:rPr>
              <a:t>(String)</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currency</a:t>
            </a:r>
            <a:r>
              <a:rPr lang="en-US" sz="2000" dirty="0">
                <a:solidFill>
                  <a:schemeClr val="tx1"/>
                </a:solidFill>
                <a:latin typeface="Times New Roman" panose="02020603050405020304" pitchFamily="18" charset="0"/>
                <a:cs typeface="Times New Roman" panose="02020603050405020304" pitchFamily="18" charset="0"/>
              </a:rPr>
              <a:t>(String)</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exchange</a:t>
            </a:r>
            <a:r>
              <a:rPr lang="en-US" sz="2000" dirty="0">
                <a:solidFill>
                  <a:schemeClr val="tx1"/>
                </a:solidFill>
                <a:latin typeface="Times New Roman" panose="02020603050405020304" pitchFamily="18" charset="0"/>
                <a:cs typeface="Times New Roman" panose="02020603050405020304" pitchFamily="18" charset="0"/>
              </a:rPr>
              <a:t>(String)</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err="1">
                <a:solidFill>
                  <a:schemeClr val="tx1"/>
                </a:solidFill>
                <a:latin typeface="Times New Roman" panose="02020603050405020304" pitchFamily="18" charset="0"/>
                <a:cs typeface="Times New Roman" panose="02020603050405020304" pitchFamily="18" charset="0"/>
              </a:rPr>
              <a:t>instrument_name</a:t>
            </a:r>
            <a:r>
              <a:rPr lang="en-US" sz="2000" dirty="0">
                <a:solidFill>
                  <a:schemeClr val="tx1"/>
                </a:solidFill>
                <a:latin typeface="Times New Roman" panose="02020603050405020304" pitchFamily="18" charset="0"/>
                <a:cs typeface="Times New Roman" panose="02020603050405020304" pitchFamily="18" charset="0"/>
              </a:rPr>
              <a:t>(String)</a:t>
            </a:r>
            <a:br>
              <a:rPr lang="en-US" sz="2000"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symbol</a:t>
            </a:r>
            <a:r>
              <a:rPr lang="en-US" sz="2000" dirty="0">
                <a:solidFill>
                  <a:schemeClr val="tx1"/>
                </a:solidFill>
                <a:latin typeface="Times New Roman" panose="02020603050405020304" pitchFamily="18" charset="0"/>
                <a:cs typeface="Times New Roman" panose="02020603050405020304" pitchFamily="18" charset="0"/>
              </a:rPr>
              <a:t>(String)</a:t>
            </a: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br>
              <a:rPr lang="en-US" sz="1600" dirty="0">
                <a:solidFill>
                  <a:schemeClr val="tx1"/>
                </a:solidFill>
                <a:latin typeface="Times New Roman" panose="02020603050405020304" pitchFamily="18" charset="0"/>
                <a:cs typeface="Times New Roman" panose="02020603050405020304" pitchFamily="18" charset="0"/>
              </a:rPr>
            </a:br>
            <a:endParaRPr 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latin typeface="Times New Roman" panose="02020603050405020304" pitchFamily="18" charset="0"/>
                <a:cs typeface="Times New Roman" panose="02020603050405020304" pitchFamily="18" charset="0"/>
              </a:rPr>
              <a:t>TESTING</a:t>
            </a:r>
          </a:p>
        </p:txBody>
      </p:sp>
      <p:graphicFrame>
        <p:nvGraphicFramePr>
          <p:cNvPr id="3" name="Table 2"/>
          <p:cNvGraphicFramePr/>
          <p:nvPr>
            <p:custDataLst>
              <p:tags r:id="rId1"/>
            </p:custDataLst>
          </p:nvPr>
        </p:nvGraphicFramePr>
        <p:xfrm>
          <a:off x="1153160" y="1601470"/>
          <a:ext cx="9365615" cy="4506595"/>
        </p:xfrm>
        <a:graphic>
          <a:graphicData uri="http://schemas.openxmlformats.org/drawingml/2006/table">
            <a:tbl>
              <a:tblPr/>
              <a:tblGrid>
                <a:gridCol w="537845">
                  <a:extLst>
                    <a:ext uri="{9D8B030D-6E8A-4147-A177-3AD203B41FA5}">
                      <a16:colId xmlns:a16="http://schemas.microsoft.com/office/drawing/2014/main" val="20000"/>
                    </a:ext>
                  </a:extLst>
                </a:gridCol>
                <a:gridCol w="1165860">
                  <a:extLst>
                    <a:ext uri="{9D8B030D-6E8A-4147-A177-3AD203B41FA5}">
                      <a16:colId xmlns:a16="http://schemas.microsoft.com/office/drawing/2014/main" val="20001"/>
                    </a:ext>
                  </a:extLst>
                </a:gridCol>
                <a:gridCol w="2068195">
                  <a:extLst>
                    <a:ext uri="{9D8B030D-6E8A-4147-A177-3AD203B41FA5}">
                      <a16:colId xmlns:a16="http://schemas.microsoft.com/office/drawing/2014/main" val="20002"/>
                    </a:ext>
                  </a:extLst>
                </a:gridCol>
                <a:gridCol w="2675255">
                  <a:extLst>
                    <a:ext uri="{9D8B030D-6E8A-4147-A177-3AD203B41FA5}">
                      <a16:colId xmlns:a16="http://schemas.microsoft.com/office/drawing/2014/main" val="20003"/>
                    </a:ext>
                  </a:extLst>
                </a:gridCol>
                <a:gridCol w="1825625">
                  <a:extLst>
                    <a:ext uri="{9D8B030D-6E8A-4147-A177-3AD203B41FA5}">
                      <a16:colId xmlns:a16="http://schemas.microsoft.com/office/drawing/2014/main" val="20004"/>
                    </a:ext>
                  </a:extLst>
                </a:gridCol>
                <a:gridCol w="1092835">
                  <a:extLst>
                    <a:ext uri="{9D8B030D-6E8A-4147-A177-3AD203B41FA5}">
                      <a16:colId xmlns:a16="http://schemas.microsoft.com/office/drawing/2014/main" val="20005"/>
                    </a:ext>
                  </a:extLst>
                </a:gridCol>
              </a:tblGrid>
              <a:tr h="285115">
                <a:tc>
                  <a:txBody>
                    <a:bodyPr/>
                    <a:lstStyle/>
                    <a:p>
                      <a:pPr marL="90805" indent="0" algn="l">
                        <a:spcBef>
                          <a:spcPts val="300"/>
                        </a:spcBef>
                        <a:spcAft>
                          <a:spcPct val="0"/>
                        </a:spcAft>
                      </a:pPr>
                      <a:r>
                        <a:rPr sz="700" b="1">
                          <a:latin typeface="Times New Roman" panose="02020603050405020304"/>
                          <a:ea typeface="Times New Roman" panose="02020603050405020304"/>
                        </a:rPr>
                        <a:t>No</a:t>
                      </a:r>
                    </a:p>
                    <a:p>
                      <a:pPr marL="90805" indent="0" algn="l">
                        <a:spcBef>
                          <a:spcPts val="200"/>
                        </a:spcBef>
                        <a:spcAft>
                          <a:spcPct val="0"/>
                        </a:spcAft>
                      </a:pPr>
                      <a:r>
                        <a:rPr sz="700" b="1">
                          <a:latin typeface="Times New Roman" panose="02020603050405020304"/>
                          <a:ea typeface="Times New Roman" panose="02020603050405020304"/>
                        </a:rPr>
                        <a: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lnSpc>
                          <a:spcPct val="115000"/>
                        </a:lnSpc>
                        <a:spcBef>
                          <a:spcPts val="300"/>
                        </a:spcBef>
                        <a:spcAft>
                          <a:spcPct val="0"/>
                        </a:spcAft>
                      </a:pPr>
                      <a:r>
                        <a:rPr sz="700" b="1">
                          <a:latin typeface="Times New Roman" panose="02020603050405020304"/>
                          <a:ea typeface="Times New Roman" panose="02020603050405020304"/>
                        </a:rPr>
                        <a:t>Test Case name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b="1">
                          <a:latin typeface="Times New Roman" panose="02020603050405020304"/>
                          <a:ea typeface="Times New Roman" panose="02020603050405020304"/>
                        </a:rPr>
                        <a:t>Test Case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b="1">
                          <a:latin typeface="Times New Roman" panose="02020603050405020304"/>
                          <a:ea typeface="Times New Roman" panose="02020603050405020304"/>
                        </a:rPr>
                        <a:t>Expected Result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0" indent="0" algn="l">
                        <a:spcBef>
                          <a:spcPts val="300"/>
                        </a:spcBef>
                        <a:spcAft>
                          <a:spcPct val="0"/>
                        </a:spcAft>
                      </a:pPr>
                      <a:r>
                        <a:rPr sz="700" b="1">
                          <a:latin typeface="Times New Roman" panose="02020603050405020304"/>
                          <a:ea typeface="Times New Roman" panose="02020603050405020304"/>
                        </a:rPr>
                        <a:t>Actual Result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92075" indent="0" algn="l">
                        <a:spcBef>
                          <a:spcPts val="300"/>
                        </a:spcBef>
                        <a:spcAft>
                          <a:spcPct val="0"/>
                        </a:spcAft>
                      </a:pPr>
                      <a:r>
                        <a:rPr sz="700" b="1">
                          <a:latin typeface="Times New Roman" panose="02020603050405020304"/>
                          <a:ea typeface="Times New Roman" panose="02020603050405020304"/>
                        </a:rPr>
                        <a:t>Status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extLst>
                  <a:ext uri="{0D108BD9-81ED-4DB2-BD59-A6C34878D82A}">
                    <a16:rowId xmlns:a16="http://schemas.microsoft.com/office/drawing/2014/main" val="10000"/>
                  </a:ext>
                </a:extLst>
              </a:tr>
              <a:tr h="294640">
                <a:tc>
                  <a:txBody>
                    <a:bodyPr/>
                    <a:lstStyle/>
                    <a:p>
                      <a:pPr marL="90805" indent="0" algn="l">
                        <a:spcBef>
                          <a:spcPts val="300"/>
                        </a:spcBef>
                        <a:spcAft>
                          <a:spcPct val="0"/>
                        </a:spcAft>
                      </a:pPr>
                      <a:r>
                        <a:rPr sz="700">
                          <a:latin typeface="Times New Roman" panose="02020603050405020304"/>
                          <a:ea typeface="Times New Roman" panose="02020603050405020304"/>
                        </a:rPr>
                        <a:t>1</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Login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29540" indent="-38100" algn="l">
                        <a:lnSpc>
                          <a:spcPct val="115000"/>
                        </a:lnSpc>
                        <a:spcBef>
                          <a:spcPts val="300"/>
                        </a:spcBef>
                        <a:spcAft>
                          <a:spcPct val="0"/>
                        </a:spcAft>
                      </a:pPr>
                      <a:r>
                        <a:rPr sz="700">
                          <a:latin typeface="Times New Roman" panose="02020603050405020304"/>
                          <a:ea typeface="Times New Roman" panose="02020603050405020304"/>
                        </a:rPr>
                        <a:t>Enter correct email &amp; password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User logs in successfully</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spcBef>
                          <a:spcPts val="300"/>
                        </a:spcBef>
                        <a:spcAft>
                          <a:spcPct val="0"/>
                        </a:spcAft>
                      </a:pPr>
                      <a:r>
                        <a:rPr sz="700">
                          <a:latin typeface="Times New Roman" panose="02020603050405020304"/>
                          <a:ea typeface="Times New Roman" panose="02020603050405020304"/>
                        </a:rPr>
                        <a:t>User logs in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01"/>
                  </a:ext>
                </a:extLst>
              </a:tr>
              <a:tr h="294640">
                <a:tc>
                  <a:txBody>
                    <a:bodyPr/>
                    <a:lstStyle/>
                    <a:p>
                      <a:pPr marL="90805" indent="0" algn="l">
                        <a:spcBef>
                          <a:spcPts val="300"/>
                        </a:spcBef>
                        <a:spcAft>
                          <a:spcPct val="0"/>
                        </a:spcAft>
                      </a:pPr>
                      <a:r>
                        <a:rPr sz="700">
                          <a:latin typeface="Times New Roman" panose="02020603050405020304"/>
                          <a:ea typeface="Times New Roman" panose="02020603050405020304"/>
                        </a:rPr>
                        <a:t>2</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Login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lnSpc>
                          <a:spcPct val="115000"/>
                        </a:lnSpc>
                        <a:spcBef>
                          <a:spcPts val="300"/>
                        </a:spcBef>
                        <a:spcAft>
                          <a:spcPct val="0"/>
                        </a:spcAft>
                      </a:pPr>
                      <a:r>
                        <a:rPr sz="700">
                          <a:latin typeface="Times New Roman" panose="02020603050405020304"/>
                          <a:ea typeface="Times New Roman" panose="02020603050405020304"/>
                        </a:rPr>
                        <a:t>Enter wrong passwor 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Error message shown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0" indent="0" algn="l">
                        <a:spcBef>
                          <a:spcPts val="300"/>
                        </a:spcBef>
                        <a:spcAft>
                          <a:spcPct val="0"/>
                        </a:spcAft>
                      </a:pPr>
                      <a:r>
                        <a:rPr sz="700">
                          <a:latin typeface="Times New Roman" panose="02020603050405020304"/>
                          <a:ea typeface="Times New Roman" panose="02020603050405020304"/>
                        </a:rPr>
                        <a:t>Error message shown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extLst>
                  <a:ext uri="{0D108BD9-81ED-4DB2-BD59-A6C34878D82A}">
                    <a16:rowId xmlns:a16="http://schemas.microsoft.com/office/drawing/2014/main" val="10002"/>
                  </a:ext>
                </a:extLst>
              </a:tr>
              <a:tr h="294640">
                <a:tc>
                  <a:txBody>
                    <a:bodyPr/>
                    <a:lstStyle/>
                    <a:p>
                      <a:pPr marL="90805" indent="0" algn="l">
                        <a:spcBef>
                          <a:spcPts val="300"/>
                        </a:spcBef>
                        <a:spcAft>
                          <a:spcPct val="0"/>
                        </a:spcAft>
                      </a:pPr>
                      <a:r>
                        <a:rPr sz="700">
                          <a:latin typeface="Times New Roman" panose="02020603050405020304"/>
                          <a:ea typeface="Times New Roman" panose="02020603050405020304"/>
                        </a:rPr>
                        <a:t>3</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Signup</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Create new account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29540" indent="-38100" algn="l">
                        <a:lnSpc>
                          <a:spcPct val="116000"/>
                        </a:lnSpc>
                        <a:spcBef>
                          <a:spcPts val="300"/>
                        </a:spcBef>
                        <a:spcAft>
                          <a:spcPct val="0"/>
                        </a:spcAft>
                      </a:pPr>
                      <a:r>
                        <a:rPr sz="700">
                          <a:latin typeface="Times New Roman" panose="02020603050405020304"/>
                          <a:ea typeface="Times New Roman" panose="02020603050405020304"/>
                        </a:rPr>
                        <a:t>Account created and saved in Firebase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spcBef>
                          <a:spcPts val="300"/>
                        </a:spcBef>
                        <a:spcAft>
                          <a:spcPct val="0"/>
                        </a:spcAft>
                      </a:pPr>
                      <a:r>
                        <a:rPr sz="700">
                          <a:latin typeface="Times New Roman" panose="02020603050405020304"/>
                          <a:ea typeface="Times New Roman" panose="02020603050405020304"/>
                        </a:rPr>
                        <a:t>Accounted created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03"/>
                  </a:ext>
                </a:extLst>
              </a:tr>
              <a:tr h="294640">
                <a:tc>
                  <a:txBody>
                    <a:bodyPr/>
                    <a:lstStyle/>
                    <a:p>
                      <a:pPr marL="90805" indent="0" algn="l">
                        <a:spcBef>
                          <a:spcPts val="300"/>
                        </a:spcBef>
                        <a:spcAft>
                          <a:spcPct val="0"/>
                        </a:spcAft>
                      </a:pPr>
                      <a:r>
                        <a:rPr sz="700">
                          <a:latin typeface="Times New Roman" panose="02020603050405020304"/>
                          <a:ea typeface="Times New Roman" panose="02020603050405020304"/>
                        </a:rPr>
                        <a:t>4</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Profile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Open profile page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Shows user name and email</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0" indent="0" algn="l">
                        <a:lnSpc>
                          <a:spcPct val="115000"/>
                        </a:lnSpc>
                        <a:spcBef>
                          <a:spcPts val="300"/>
                        </a:spcBef>
                        <a:spcAft>
                          <a:spcPct val="0"/>
                        </a:spcAft>
                      </a:pPr>
                      <a:r>
                        <a:rPr sz="700">
                          <a:latin typeface="Times New Roman" panose="02020603050405020304"/>
                          <a:ea typeface="Times New Roman" panose="02020603050405020304"/>
                        </a:rPr>
                        <a:t>Shows the user details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extLst>
                  <a:ext uri="{0D108BD9-81ED-4DB2-BD59-A6C34878D82A}">
                    <a16:rowId xmlns:a16="http://schemas.microsoft.com/office/drawing/2014/main" val="10004"/>
                  </a:ext>
                </a:extLst>
              </a:tr>
              <a:tr h="295275">
                <a:tc>
                  <a:txBody>
                    <a:bodyPr/>
                    <a:lstStyle/>
                    <a:p>
                      <a:pPr marL="90805" indent="0" algn="l">
                        <a:spcBef>
                          <a:spcPts val="300"/>
                        </a:spcBef>
                        <a:spcAft>
                          <a:spcPct val="0"/>
                        </a:spcAft>
                      </a:pPr>
                      <a:r>
                        <a:rPr sz="700">
                          <a:latin typeface="Times New Roman" panose="02020603050405020304"/>
                          <a:ea typeface="Times New Roman" panose="02020603050405020304"/>
                        </a:rPr>
                        <a:t>5</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lnSpc>
                          <a:spcPct val="116000"/>
                        </a:lnSpc>
                        <a:spcBef>
                          <a:spcPts val="300"/>
                        </a:spcBef>
                        <a:spcAft>
                          <a:spcPct val="0"/>
                        </a:spcAft>
                      </a:pPr>
                      <a:r>
                        <a:rPr sz="700">
                          <a:latin typeface="Times New Roman" panose="02020603050405020304"/>
                          <a:ea typeface="Times New Roman" panose="02020603050405020304"/>
                        </a:rPr>
                        <a:t>Edit Profil 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Change name/email</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Updated info shown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lnSpc>
                          <a:spcPct val="116000"/>
                        </a:lnSpc>
                        <a:spcBef>
                          <a:spcPts val="300"/>
                        </a:spcBef>
                        <a:spcAft>
                          <a:spcPct val="0"/>
                        </a:spcAft>
                      </a:pPr>
                      <a:r>
                        <a:rPr sz="700">
                          <a:latin typeface="Times New Roman" panose="02020603050405020304"/>
                          <a:ea typeface="Times New Roman" panose="02020603050405020304"/>
                        </a:rPr>
                        <a:t>Shows the updated profile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05"/>
                  </a:ext>
                </a:extLst>
              </a:tr>
              <a:tr h="294005">
                <a:tc>
                  <a:txBody>
                    <a:bodyPr/>
                    <a:lstStyle/>
                    <a:p>
                      <a:pPr marL="90805" indent="0" algn="l">
                        <a:spcBef>
                          <a:spcPts val="300"/>
                        </a:spcBef>
                        <a:spcAft>
                          <a:spcPct val="0"/>
                        </a:spcAft>
                      </a:pPr>
                      <a:r>
                        <a:rPr sz="700">
                          <a:latin typeface="Times New Roman" panose="02020603050405020304"/>
                          <a:ea typeface="Times New Roman" panose="02020603050405020304"/>
                        </a:rPr>
                        <a:t>6</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Explore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Open news section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lnSpc>
                          <a:spcPct val="115000"/>
                        </a:lnSpc>
                        <a:spcBef>
                          <a:spcPts val="300"/>
                        </a:spcBef>
                        <a:spcAft>
                          <a:spcPct val="0"/>
                        </a:spcAft>
                      </a:pPr>
                      <a:r>
                        <a:rPr sz="700">
                          <a:latin typeface="Times New Roman" panose="02020603050405020304"/>
                          <a:ea typeface="Times New Roman" panose="02020603050405020304"/>
                        </a:rPr>
                        <a:t>News headlines with images are displayed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0" indent="0" algn="l">
                        <a:lnSpc>
                          <a:spcPct val="115000"/>
                        </a:lnSpc>
                        <a:spcBef>
                          <a:spcPts val="300"/>
                        </a:spcBef>
                        <a:spcAft>
                          <a:spcPct val="0"/>
                        </a:spcAft>
                      </a:pPr>
                      <a:r>
                        <a:rPr sz="700">
                          <a:latin typeface="Times New Roman" panose="02020603050405020304"/>
                          <a:ea typeface="Times New Roman" panose="02020603050405020304"/>
                        </a:rPr>
                        <a:t>Shows headlines with images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extLst>
                  <a:ext uri="{0D108BD9-81ED-4DB2-BD59-A6C34878D82A}">
                    <a16:rowId xmlns:a16="http://schemas.microsoft.com/office/drawing/2014/main" val="10006"/>
                  </a:ext>
                </a:extLst>
              </a:tr>
              <a:tr h="300990">
                <a:tc>
                  <a:txBody>
                    <a:bodyPr/>
                    <a:lstStyle/>
                    <a:p>
                      <a:pPr marL="90805" indent="0" algn="l">
                        <a:spcBef>
                          <a:spcPts val="300"/>
                        </a:spcBef>
                        <a:spcAft>
                          <a:spcPct val="0"/>
                        </a:spcAft>
                      </a:pPr>
                      <a:r>
                        <a:rPr sz="700">
                          <a:latin typeface="Times New Roman" panose="02020603050405020304"/>
                          <a:ea typeface="Times New Roman" panose="02020603050405020304"/>
                        </a:rPr>
                        <a:t>7</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Explore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lnSpc>
                          <a:spcPct val="115000"/>
                        </a:lnSpc>
                        <a:spcBef>
                          <a:spcPts val="300"/>
                        </a:spcBef>
                        <a:spcAft>
                          <a:spcPct val="0"/>
                        </a:spcAft>
                      </a:pPr>
                      <a:r>
                        <a:rPr sz="700">
                          <a:latin typeface="Times New Roman" panose="02020603050405020304"/>
                          <a:ea typeface="Times New Roman" panose="02020603050405020304"/>
                        </a:rPr>
                        <a:t>No internet connectio 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Shows retry button or error</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spcBef>
                          <a:spcPts val="300"/>
                        </a:spcBef>
                        <a:spcAft>
                          <a:spcPct val="0"/>
                        </a:spcAft>
                      </a:pPr>
                      <a:r>
                        <a:rPr sz="700">
                          <a:latin typeface="Times New Roman" panose="02020603050405020304"/>
                          <a:ea typeface="Times New Roman" panose="02020603050405020304"/>
                        </a:rPr>
                        <a:t>Shows error message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07"/>
                  </a:ext>
                </a:extLst>
              </a:tr>
              <a:tr h="294640">
                <a:tc>
                  <a:txBody>
                    <a:bodyPr/>
                    <a:lstStyle/>
                    <a:p>
                      <a:pPr marL="90805" indent="0" algn="l">
                        <a:spcBef>
                          <a:spcPts val="300"/>
                        </a:spcBef>
                        <a:spcAft>
                          <a:spcPct val="0"/>
                        </a:spcAft>
                      </a:pPr>
                      <a:r>
                        <a:rPr sz="700">
                          <a:latin typeface="Times New Roman" panose="02020603050405020304"/>
                          <a:ea typeface="Times New Roman" panose="02020603050405020304"/>
                        </a:rPr>
                        <a:t>8</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Watchlist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Add stock</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lnSpc>
                          <a:spcPct val="115000"/>
                        </a:lnSpc>
                        <a:spcBef>
                          <a:spcPts val="300"/>
                        </a:spcBef>
                        <a:spcAft>
                          <a:spcPct val="0"/>
                        </a:spcAft>
                      </a:pPr>
                      <a:r>
                        <a:rPr sz="700">
                          <a:latin typeface="Times New Roman" panose="02020603050405020304"/>
                          <a:ea typeface="Times New Roman" panose="02020603050405020304"/>
                        </a:rPr>
                        <a:t>Stock added to list &amp; Firebas 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0" indent="0" algn="l">
                        <a:spcBef>
                          <a:spcPts val="300"/>
                        </a:spcBef>
                        <a:spcAft>
                          <a:spcPct val="0"/>
                        </a:spcAft>
                      </a:pPr>
                      <a:r>
                        <a:rPr sz="700">
                          <a:latin typeface="Times New Roman" panose="02020603050405020304"/>
                          <a:ea typeface="Times New Roman" panose="02020603050405020304"/>
                        </a:rPr>
                        <a:t>Stocked Added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920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extLst>
                  <a:ext uri="{0D108BD9-81ED-4DB2-BD59-A6C34878D82A}">
                    <a16:rowId xmlns:a16="http://schemas.microsoft.com/office/drawing/2014/main" val="10008"/>
                  </a:ext>
                </a:extLst>
              </a:tr>
              <a:tr h="250825">
                <a:tc>
                  <a:txBody>
                    <a:bodyPr/>
                    <a:lstStyle/>
                    <a:p>
                      <a:pPr marL="90805" indent="0" algn="l">
                        <a:spcBef>
                          <a:spcPts val="300"/>
                        </a:spcBef>
                        <a:spcAft>
                          <a:spcPct val="0"/>
                        </a:spcAft>
                      </a:pPr>
                      <a:r>
                        <a:rPr sz="700">
                          <a:latin typeface="Times New Roman" panose="02020603050405020304"/>
                          <a:ea typeface="Times New Roman" panose="02020603050405020304"/>
                        </a:rPr>
                        <a:t>9</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Watchlist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Remove stock</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Stock removed from list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spcBef>
                          <a:spcPts val="300"/>
                        </a:spcBef>
                        <a:spcAft>
                          <a:spcPct val="0"/>
                        </a:spcAft>
                      </a:pPr>
                      <a:r>
                        <a:rPr sz="700">
                          <a:latin typeface="Times New Roman" panose="02020603050405020304"/>
                          <a:ea typeface="Times New Roman" panose="02020603050405020304"/>
                        </a:rPr>
                        <a:t>Stock removed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09"/>
                  </a:ext>
                </a:extLst>
              </a:tr>
              <a:tr h="232410">
                <a:tc>
                  <a:txBody>
                    <a:bodyPr/>
                    <a:lstStyle/>
                    <a:p>
                      <a:pPr marL="90805" indent="0" algn="l">
                        <a:spcBef>
                          <a:spcPts val="300"/>
                        </a:spcBef>
                        <a:spcAft>
                          <a:spcPct val="0"/>
                        </a:spcAft>
                      </a:pPr>
                      <a:r>
                        <a:rPr sz="700">
                          <a:latin typeface="Times New Roman" panose="02020603050405020304"/>
                          <a:ea typeface="Times New Roman" panose="02020603050405020304"/>
                        </a:rPr>
                        <a:t>10</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Chart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Open chart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Stock chart is displayed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0" indent="0" algn="l">
                        <a:spcBef>
                          <a:spcPts val="300"/>
                        </a:spcBef>
                        <a:spcAft>
                          <a:spcPct val="0"/>
                        </a:spcAft>
                      </a:pPr>
                      <a:r>
                        <a:rPr sz="700">
                          <a:latin typeface="Times New Roman" panose="02020603050405020304"/>
                          <a:ea typeface="Times New Roman" panose="02020603050405020304"/>
                        </a:rPr>
                        <a:t>Chart shown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1301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extLst>
                  <a:ext uri="{0D108BD9-81ED-4DB2-BD59-A6C34878D82A}">
                    <a16:rowId xmlns:a16="http://schemas.microsoft.com/office/drawing/2014/main" val="10010"/>
                  </a:ext>
                </a:extLst>
              </a:tr>
              <a:tr h="294005">
                <a:tc>
                  <a:txBody>
                    <a:bodyPr/>
                    <a:lstStyle/>
                    <a:p>
                      <a:pPr marL="90805" indent="0" algn="l">
                        <a:spcBef>
                          <a:spcPts val="300"/>
                        </a:spcBef>
                        <a:spcAft>
                          <a:spcPct val="0"/>
                        </a:spcAft>
                      </a:pPr>
                      <a:r>
                        <a:rPr sz="700">
                          <a:latin typeface="Times New Roman" panose="02020603050405020304"/>
                          <a:ea typeface="Times New Roman" panose="02020603050405020304"/>
                        </a:rPr>
                        <a:t>11</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Chart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Change stock</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lnSpc>
                          <a:spcPct val="115000"/>
                        </a:lnSpc>
                        <a:spcBef>
                          <a:spcPts val="300"/>
                        </a:spcBef>
                        <a:spcAft>
                          <a:spcPct val="0"/>
                        </a:spcAft>
                      </a:pPr>
                      <a:r>
                        <a:rPr sz="700">
                          <a:latin typeface="Times New Roman" panose="02020603050405020304"/>
                          <a:ea typeface="Times New Roman" panose="02020603050405020304"/>
                        </a:rPr>
                        <a:t>Chart updates to selected stock</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spcBef>
                          <a:spcPts val="300"/>
                        </a:spcBef>
                        <a:spcAft>
                          <a:spcPct val="0"/>
                        </a:spcAft>
                      </a:pPr>
                      <a:r>
                        <a:rPr sz="700">
                          <a:latin typeface="Times New Roman" panose="02020603050405020304"/>
                          <a:ea typeface="Times New Roman" panose="02020603050405020304"/>
                        </a:rPr>
                        <a:t>Chart Updated</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920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11"/>
                  </a:ext>
                </a:extLst>
              </a:tr>
              <a:tr h="295275">
                <a:tc>
                  <a:txBody>
                    <a:bodyPr/>
                    <a:lstStyle/>
                    <a:p>
                      <a:pPr marL="90805" indent="0" algn="l">
                        <a:spcBef>
                          <a:spcPts val="300"/>
                        </a:spcBef>
                        <a:spcAft>
                          <a:spcPct val="0"/>
                        </a:spcAft>
                      </a:pPr>
                      <a:r>
                        <a:rPr sz="700">
                          <a:latin typeface="Times New Roman" panose="02020603050405020304"/>
                          <a:ea typeface="Times New Roman" panose="02020603050405020304"/>
                        </a:rPr>
                        <a:t>12</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Settings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Change theme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116205" indent="0" algn="l">
                        <a:lnSpc>
                          <a:spcPct val="116000"/>
                        </a:lnSpc>
                        <a:spcBef>
                          <a:spcPts val="300"/>
                        </a:spcBef>
                        <a:spcAft>
                          <a:spcPct val="0"/>
                        </a:spcAft>
                      </a:pPr>
                      <a:r>
                        <a:rPr sz="700">
                          <a:latin typeface="Times New Roman" panose="02020603050405020304"/>
                          <a:ea typeface="Times New Roman" panose="02020603050405020304"/>
                        </a:rPr>
                        <a:t>Theme changes to dark/light mode</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tc>
                  <a:txBody>
                    <a:bodyPr/>
                    <a:lstStyle/>
                    <a:p>
                      <a:pPr marL="0" indent="0" algn="l">
                        <a:lnSpc>
                          <a:spcPct val="116000"/>
                        </a:lnSpc>
                        <a:spcBef>
                          <a:spcPts val="300"/>
                        </a:spcBef>
                        <a:spcAft>
                          <a:spcPct val="0"/>
                        </a:spcAft>
                      </a:pPr>
                      <a:r>
                        <a:rPr sz="700">
                          <a:latin typeface="Times New Roman" panose="02020603050405020304"/>
                          <a:ea typeface="Times New Roman" panose="02020603050405020304"/>
                        </a:rPr>
                        <a:t>Theme changed successfully</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920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DF9EC"/>
                    </a:solidFill>
                  </a:tcPr>
                </a:tc>
                <a:extLst>
                  <a:ext uri="{0D108BD9-81ED-4DB2-BD59-A6C34878D82A}">
                    <a16:rowId xmlns:a16="http://schemas.microsoft.com/office/drawing/2014/main" val="10012"/>
                  </a:ext>
                </a:extLst>
              </a:tr>
              <a:tr h="491490">
                <a:tc>
                  <a:txBody>
                    <a:bodyPr/>
                    <a:lstStyle/>
                    <a:p>
                      <a:pPr marL="90805" indent="0" algn="l">
                        <a:spcBef>
                          <a:spcPts val="300"/>
                        </a:spcBef>
                        <a:spcAft>
                          <a:spcPct val="0"/>
                        </a:spcAft>
                      </a:pPr>
                      <a:r>
                        <a:rPr sz="700">
                          <a:latin typeface="Times New Roman" panose="02020603050405020304"/>
                          <a:ea typeface="Times New Roman" panose="02020603050405020304"/>
                        </a:rPr>
                        <a:t>13</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Logout</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Tap logout button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29540" indent="-38100" algn="l">
                        <a:lnSpc>
                          <a:spcPct val="115000"/>
                        </a:lnSpc>
                        <a:spcBef>
                          <a:spcPts val="300"/>
                        </a:spcBef>
                        <a:spcAft>
                          <a:spcPct val="0"/>
                        </a:spcAft>
                      </a:pPr>
                      <a:r>
                        <a:rPr sz="700">
                          <a:latin typeface="Times New Roman" panose="02020603050405020304"/>
                          <a:ea typeface="Times New Roman" panose="02020603050405020304"/>
                        </a:rPr>
                        <a:t>User logged out &amp; redirected to login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spcBef>
                          <a:spcPts val="300"/>
                        </a:spcBef>
                        <a:spcAft>
                          <a:spcPct val="0"/>
                        </a:spcAft>
                      </a:pPr>
                      <a:r>
                        <a:rPr sz="700">
                          <a:latin typeface="Times New Roman" panose="02020603050405020304"/>
                          <a:ea typeface="Times New Roman" panose="02020603050405020304"/>
                        </a:rPr>
                        <a:t>Logout Successful</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92075" indent="0" algn="l">
                        <a:spcBef>
                          <a:spcPts val="300"/>
                        </a:spcBef>
                        <a:spcAft>
                          <a:spcPct val="0"/>
                        </a:spcAft>
                      </a:pPr>
                      <a:r>
                        <a:rPr sz="700">
                          <a:latin typeface="Times New Roman" panose="02020603050405020304"/>
                          <a:ea typeface="Times New Roman" panose="02020603050405020304"/>
                        </a:rPr>
                        <a:t>Pass</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13"/>
                  </a:ext>
                </a:extLst>
              </a:tr>
              <a:tr h="294005">
                <a:tc>
                  <a:txBody>
                    <a:bodyPr/>
                    <a:lstStyle/>
                    <a:p>
                      <a:pPr marL="90805" indent="0" algn="l">
                        <a:spcBef>
                          <a:spcPts val="300"/>
                        </a:spcBef>
                        <a:spcAft>
                          <a:spcPct val="0"/>
                        </a:spcAft>
                      </a:pPr>
                      <a:r>
                        <a:rPr sz="700">
                          <a:latin typeface="Times New Roman" panose="02020603050405020304"/>
                          <a:ea typeface="Times New Roman" panose="02020603050405020304"/>
                        </a:rPr>
                        <a:t>14</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lnSpc>
                          <a:spcPct val="115000"/>
                        </a:lnSpc>
                        <a:spcBef>
                          <a:spcPts val="300"/>
                        </a:spcBef>
                        <a:spcAft>
                          <a:spcPct val="0"/>
                        </a:spcAft>
                      </a:pPr>
                      <a:r>
                        <a:rPr sz="700">
                          <a:latin typeface="Times New Roman" panose="02020603050405020304"/>
                          <a:ea typeface="Times New Roman" panose="02020603050405020304"/>
                        </a:rPr>
                        <a:t>Notificatio 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Notification Popup</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116205" indent="0" algn="l">
                        <a:spcBef>
                          <a:spcPts val="300"/>
                        </a:spcBef>
                        <a:spcAft>
                          <a:spcPct val="0"/>
                        </a:spcAft>
                      </a:pPr>
                      <a:r>
                        <a:rPr sz="700">
                          <a:latin typeface="Times New Roman" panose="02020603050405020304"/>
                          <a:ea typeface="Times New Roman" panose="02020603050405020304"/>
                        </a:rPr>
                        <a:t>Notification Shown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tc>
                  <a:txBody>
                    <a:bodyPr/>
                    <a:lstStyle/>
                    <a:p>
                      <a:pPr marL="0" indent="0" algn="l">
                        <a:lnSpc>
                          <a:spcPct val="115000"/>
                        </a:lnSpc>
                        <a:spcBef>
                          <a:spcPts val="300"/>
                        </a:spcBef>
                        <a:spcAft>
                          <a:spcPct val="0"/>
                        </a:spcAft>
                      </a:pPr>
                      <a:r>
                        <a:rPr sz="700">
                          <a:latin typeface="Times New Roman" panose="02020603050405020304"/>
                          <a:ea typeface="Times New Roman" panose="02020603050405020304"/>
                        </a:rPr>
                        <a:t>Notification not shown</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a:noFill/>
                    </a:lnT>
                    <a:lnB>
                      <a:noFill/>
                    </a:lnB>
                    <a:noFill/>
                  </a:tcPr>
                </a:tc>
                <a:tc>
                  <a:txBody>
                    <a:bodyPr/>
                    <a:lstStyle/>
                    <a:p>
                      <a:pPr marL="92075" indent="0" algn="l">
                        <a:spcBef>
                          <a:spcPts val="300"/>
                        </a:spcBef>
                        <a:spcAft>
                          <a:spcPct val="0"/>
                        </a:spcAft>
                      </a:pPr>
                      <a:r>
                        <a:rPr sz="700">
                          <a:latin typeface="Times New Roman" panose="02020603050405020304"/>
                          <a:ea typeface="Times New Roman" panose="02020603050405020304"/>
                        </a:rPr>
                        <a:t>Fail</a:t>
                      </a:r>
                    </a:p>
                  </a:txBody>
                  <a:tcPr marL="0" marR="0" marT="0" marB="0">
                    <a:lnL w="6350" cap="flat" cmpd="sng">
                      <a:solidFill>
                        <a:srgbClr val="FAE184"/>
                      </a:solidFill>
                      <a:prstDash val="solid"/>
                      <a:headEnd type="none" w="med" len="med"/>
                      <a:tailEnd type="none" w="med" len="med"/>
                    </a:lnL>
                    <a:lnR w="6350" cap="flat" cmpd="sng">
                      <a:solidFill>
                        <a:srgbClr val="FAE184"/>
                      </a:solidFill>
                      <a:prstDash val="solid"/>
                      <a:headEnd type="none" w="med" len="med"/>
                      <a:tailEnd type="none" w="med" len="med"/>
                    </a:lnR>
                    <a:lnT w="6350" cap="flat" cmpd="sng">
                      <a:solidFill>
                        <a:srgbClr val="FAE184"/>
                      </a:solidFill>
                      <a:prstDash val="solid"/>
                      <a:headEnd type="none" w="med" len="med"/>
                      <a:tailEnd type="none" w="med" len="med"/>
                    </a:lnT>
                    <a:lnB w="6350" cap="flat" cmpd="sng">
                      <a:solidFill>
                        <a:srgbClr val="FAE184"/>
                      </a:solidFill>
                      <a:prstDash val="solid"/>
                      <a:headEnd type="none" w="med" len="med"/>
                      <a:tailEnd type="none" w="med" len="med"/>
                    </a:lnB>
                    <a:solidFill>
                      <a:srgbClr val="FCF4D9"/>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5" y="310515"/>
            <a:ext cx="8596630" cy="708025"/>
          </a:xfrm>
        </p:spPr>
        <p:txBody>
          <a:bodyPr/>
          <a:lstStyle/>
          <a:p>
            <a:pPr algn="ctr"/>
            <a:r>
              <a:rPr lang="en-US" altLang="en-GB" b="1">
                <a:latin typeface="Times New Roman" panose="02020603050405020304" pitchFamily="18" charset="0"/>
                <a:cs typeface="Times New Roman" panose="02020603050405020304" pitchFamily="18" charset="0"/>
              </a:rPr>
              <a:t>Application Running steps:</a:t>
            </a:r>
          </a:p>
        </p:txBody>
      </p:sp>
      <p:sp>
        <p:nvSpPr>
          <p:cNvPr id="3" name="Text Box 2"/>
          <p:cNvSpPr txBox="1"/>
          <p:nvPr/>
        </p:nvSpPr>
        <p:spPr>
          <a:xfrm>
            <a:off x="-977265" y="1018540"/>
            <a:ext cx="3922395" cy="368300"/>
          </a:xfrm>
          <a:prstGeom prst="rect">
            <a:avLst/>
          </a:prstGeom>
        </p:spPr>
        <p:txBody>
          <a:bodyPr wrap="square">
            <a:spAutoFit/>
          </a:bodyPr>
          <a:lstStyle/>
          <a:p>
            <a:pPr marL="1652270" indent="0" algn="l" defTabSz="266700">
              <a:spcBef>
                <a:spcPct val="0"/>
              </a:spcBef>
              <a:spcAft>
                <a:spcPct val="0"/>
              </a:spcAft>
              <a:buFont typeface="Times New Roman" panose="02020603050405020304"/>
              <a:buNone/>
              <a:tabLst>
                <a:tab pos="916940" algn="l"/>
              </a:tabLst>
            </a:pPr>
            <a:r>
              <a:rPr b="1">
                <a:latin typeface="Times New Roman" panose="02020603050405020304"/>
                <a:ea typeface="Times New Roman" panose="02020603050405020304"/>
              </a:rPr>
              <a:t>Login/Signup Page:</a:t>
            </a:r>
          </a:p>
        </p:txBody>
      </p:sp>
      <p:pic>
        <p:nvPicPr>
          <p:cNvPr id="123" name="Image 123" descr="16"/>
          <p:cNvPicPr/>
          <p:nvPr/>
        </p:nvPicPr>
        <p:blipFill>
          <a:blip r:embed="rId2" cstate="print"/>
          <a:stretch>
            <a:fillRect/>
          </a:stretch>
        </p:blipFill>
        <p:spPr>
          <a:xfrm>
            <a:off x="1054735" y="2083435"/>
            <a:ext cx="2310130" cy="3907155"/>
          </a:xfrm>
          <a:prstGeom prst="rect">
            <a:avLst/>
          </a:prstGeom>
        </p:spPr>
      </p:pic>
      <p:pic>
        <p:nvPicPr>
          <p:cNvPr id="124" name="Image 124" descr="15"/>
          <p:cNvPicPr/>
          <p:nvPr/>
        </p:nvPicPr>
        <p:blipFill>
          <a:blip r:embed="rId3" cstate="print"/>
          <a:stretch>
            <a:fillRect/>
          </a:stretch>
        </p:blipFill>
        <p:spPr>
          <a:xfrm>
            <a:off x="5516880" y="2083435"/>
            <a:ext cx="2336165" cy="39071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609600"/>
            <a:ext cx="1324610" cy="607695"/>
          </a:xfrm>
        </p:spPr>
        <p:txBody>
          <a:bodyPr/>
          <a:lstStyle/>
          <a:p>
            <a:r>
              <a:rPr lang="en-US" altLang="en-GB" sz="1800">
                <a:solidFill>
                  <a:schemeClr val="tx1"/>
                </a:solidFill>
                <a:latin typeface="Times New Roman" panose="02020603050405020304" pitchFamily="18" charset="0"/>
                <a:cs typeface="Times New Roman" panose="02020603050405020304" pitchFamily="18" charset="0"/>
              </a:rPr>
              <a:t>Watchlist:-</a:t>
            </a:r>
          </a:p>
        </p:txBody>
      </p:sp>
      <p:pic>
        <p:nvPicPr>
          <p:cNvPr id="125" name="Image 125" descr="image 4"/>
          <p:cNvPicPr/>
          <p:nvPr/>
        </p:nvPicPr>
        <p:blipFill>
          <a:blip r:embed="rId2" cstate="print"/>
          <a:stretch>
            <a:fillRect/>
          </a:stretch>
        </p:blipFill>
        <p:spPr>
          <a:xfrm>
            <a:off x="841375" y="1136650"/>
            <a:ext cx="2494280" cy="4834890"/>
          </a:xfrm>
          <a:prstGeom prst="rect">
            <a:avLst/>
          </a:prstGeom>
        </p:spPr>
      </p:pic>
      <p:sp>
        <p:nvSpPr>
          <p:cNvPr id="3" name="Text Box 2"/>
          <p:cNvSpPr txBox="1"/>
          <p:nvPr/>
        </p:nvSpPr>
        <p:spPr>
          <a:xfrm>
            <a:off x="3748405" y="609600"/>
            <a:ext cx="2727960" cy="368300"/>
          </a:xfrm>
          <a:prstGeom prst="rect">
            <a:avLst/>
          </a:prstGeom>
        </p:spPr>
        <p:txBody>
          <a:bodyPr wrap="square">
            <a:spAutoFit/>
          </a:bodyPr>
          <a:lstStyle/>
          <a:p>
            <a:pPr marL="1652270" indent="0" algn="l" defTabSz="266700">
              <a:spcBef>
                <a:spcPts val="500"/>
              </a:spcBef>
              <a:spcAft>
                <a:spcPct val="0"/>
              </a:spcAft>
              <a:buFont typeface="Times New Roman" panose="02020603050405020304"/>
              <a:buNone/>
              <a:tabLst>
                <a:tab pos="916940" algn="l"/>
              </a:tabLst>
            </a:pPr>
            <a:r>
              <a:rPr>
                <a:latin typeface="Times New Roman" panose="02020603050405020304"/>
                <a:ea typeface="Times New Roman" panose="02020603050405020304"/>
              </a:rPr>
              <a:t>Explore:-</a:t>
            </a:r>
          </a:p>
        </p:txBody>
      </p:sp>
      <p:pic>
        <p:nvPicPr>
          <p:cNvPr id="126" name="Image 126"/>
          <p:cNvPicPr/>
          <p:nvPr/>
        </p:nvPicPr>
        <p:blipFill>
          <a:blip r:embed="rId3" cstate="print"/>
          <a:stretch>
            <a:fillRect/>
          </a:stretch>
        </p:blipFill>
        <p:spPr>
          <a:xfrm>
            <a:off x="5963920" y="1136650"/>
            <a:ext cx="2493010" cy="48348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609600"/>
            <a:ext cx="2404110" cy="491490"/>
          </a:xfrm>
        </p:spPr>
        <p:txBody>
          <a:bodyPr/>
          <a:lstStyle/>
          <a:p>
            <a:r>
              <a:rPr lang="en-US" altLang="en-GB" sz="1800">
                <a:solidFill>
                  <a:schemeClr val="tx1"/>
                </a:solidFill>
                <a:latin typeface="Times New Roman" panose="02020603050405020304" pitchFamily="18" charset="0"/>
                <a:cs typeface="Times New Roman" panose="02020603050405020304" pitchFamily="18" charset="0"/>
              </a:rPr>
              <a:t>Live Chart:-</a:t>
            </a:r>
          </a:p>
        </p:txBody>
      </p:sp>
      <p:pic>
        <p:nvPicPr>
          <p:cNvPr id="127" name="Image 127"/>
          <p:cNvPicPr/>
          <p:nvPr/>
        </p:nvPicPr>
        <p:blipFill>
          <a:blip r:embed="rId2" cstate="print"/>
          <a:stretch>
            <a:fillRect/>
          </a:stretch>
        </p:blipFill>
        <p:spPr>
          <a:xfrm>
            <a:off x="995045" y="1101090"/>
            <a:ext cx="2668905" cy="4975225"/>
          </a:xfrm>
          <a:prstGeom prst="rect">
            <a:avLst/>
          </a:prstGeom>
        </p:spPr>
      </p:pic>
      <p:sp>
        <p:nvSpPr>
          <p:cNvPr id="3" name="Text Box 2"/>
          <p:cNvSpPr txBox="1"/>
          <p:nvPr/>
        </p:nvSpPr>
        <p:spPr>
          <a:xfrm>
            <a:off x="3970655" y="609283"/>
            <a:ext cx="5080000" cy="368300"/>
          </a:xfrm>
          <a:prstGeom prst="rect">
            <a:avLst/>
          </a:prstGeom>
        </p:spPr>
        <p:txBody>
          <a:bodyPr>
            <a:spAutoFit/>
          </a:bodyPr>
          <a:lstStyle/>
          <a:p>
            <a:pPr marL="1652270" indent="0" algn="l" defTabSz="266700">
              <a:spcBef>
                <a:spcPct val="0"/>
              </a:spcBef>
              <a:spcAft>
                <a:spcPct val="0"/>
              </a:spcAft>
              <a:buFont typeface="Times New Roman" panose="02020603050405020304"/>
              <a:buNone/>
              <a:tabLst>
                <a:tab pos="868045" algn="l"/>
              </a:tabLst>
            </a:pPr>
            <a:r>
              <a:rPr>
                <a:latin typeface="Times New Roman" panose="02020603050405020304"/>
                <a:ea typeface="Times New Roman" panose="02020603050405020304"/>
              </a:rPr>
              <a:t>Menu:-</a:t>
            </a:r>
          </a:p>
        </p:txBody>
      </p:sp>
      <p:pic>
        <p:nvPicPr>
          <p:cNvPr id="129" name="Image 129"/>
          <p:cNvPicPr/>
          <p:nvPr/>
        </p:nvPicPr>
        <p:blipFill>
          <a:blip r:embed="rId3" cstate="print"/>
          <a:stretch>
            <a:fillRect/>
          </a:stretch>
        </p:blipFill>
        <p:spPr>
          <a:xfrm>
            <a:off x="6174105" y="1101090"/>
            <a:ext cx="2876550" cy="49752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37*355"/>
  <p:tag name="TABLE_ENDDRAG_RECT" val="90*126*737*355"/>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21</TotalTime>
  <Words>1284</Words>
  <Application>Microsoft Office PowerPoint</Application>
  <PresentationFormat>Widescreen</PresentationFormat>
  <Paragraphs>195</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Times New Roman</vt:lpstr>
      <vt:lpstr>Trebuchet MS</vt:lpstr>
      <vt:lpstr>Wingdings</vt:lpstr>
      <vt:lpstr>Wingdings 3</vt:lpstr>
      <vt:lpstr>Facet</vt:lpstr>
      <vt:lpstr>PowerPoint Presentation</vt:lpstr>
      <vt:lpstr>Introduction</vt:lpstr>
      <vt:lpstr>Purpose</vt:lpstr>
      <vt:lpstr> Existing System &amp; New system</vt:lpstr>
      <vt:lpstr>PROJECT SCOPE</vt:lpstr>
      <vt:lpstr> Key Function </vt:lpstr>
      <vt:lpstr> Problem Statement </vt:lpstr>
      <vt:lpstr>Advantages</vt:lpstr>
      <vt:lpstr>HARDWARE AND SOFTWARE REQUIREMENTS </vt:lpstr>
      <vt:lpstr>Software Requirements</vt:lpstr>
      <vt:lpstr>Requirements for Users</vt:lpstr>
      <vt:lpstr>PROCESS MODEL</vt:lpstr>
      <vt:lpstr>  PROJECT PLAN</vt:lpstr>
      <vt:lpstr>System Design </vt:lpstr>
      <vt:lpstr>Sequence Diagram</vt:lpstr>
      <vt:lpstr>Class Diagram </vt:lpstr>
      <vt:lpstr>Activity Diagram </vt:lpstr>
      <vt:lpstr>DFD</vt:lpstr>
      <vt:lpstr>PowerPoint Presentation</vt:lpstr>
      <vt:lpstr>PowerPoint Presentation</vt:lpstr>
      <vt:lpstr> Data Dictionary </vt:lpstr>
      <vt:lpstr> 2.Watchlist  Path: /stocks/{stockId} Description: Stores stock data (if you plan to cache from APIs). Fields:- country(String) currency(String) exchange(String) instrument_name(String) symbol(String)   </vt:lpstr>
      <vt:lpstr>TESTING</vt:lpstr>
      <vt:lpstr>Application Running steps:</vt:lpstr>
      <vt:lpstr>Watchlist:-</vt:lpstr>
      <vt:lpstr>Live Chart:-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Jay Latiwala</cp:lastModifiedBy>
  <cp:revision>22</cp:revision>
  <dcterms:created xsi:type="dcterms:W3CDTF">2025-09-07T14:46:00Z</dcterms:created>
  <dcterms:modified xsi:type="dcterms:W3CDTF">2025-12-13T05:12:56Z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B7333075A8C54E43825BC8F36427DD59_12</vt:lpwstr>
  </property>
  <property fmtid="{D5CDD505-2E9C-101B-9397-08002B2CF9AE}" pid="3" name="KSOProductBuildVer">
    <vt:lpwstr>2057-12.2.0.23158</vt:lpwstr>
  </property>
</Properties>
</file>